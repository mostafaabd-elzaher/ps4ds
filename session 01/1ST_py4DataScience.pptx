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5.png" ContentType="image/png"/>
  <Override PartName="/ppt/media/image23.png" ContentType="image/png"/>
  <Override PartName="/ppt/media/image2.svg" ContentType="image/svg"/>
  <Override PartName="/ppt/media/image9.png" ContentType="image/png"/>
  <Override PartName="/ppt/media/image10.jpeg" ContentType="image/jpeg"/>
  <Override PartName="/ppt/media/image20.png" ContentType="image/png"/>
  <Override PartName="/ppt/media/image18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4.png" ContentType="image/png"/>
  <Override PartName="/ppt/media/image36.png" ContentType="image/png"/>
  <Override PartName="/ppt/media/image40.png" ContentType="image/png"/>
  <Override PartName="/ppt/media/image41.png" ContentType="image/png"/>
  <Override PartName="/ppt/media/image6.svg" ContentType="image/svg"/>
  <Override PartName="/ppt/media/image35.png" ContentType="image/png"/>
  <Override PartName="/ppt/media/image38.jpeg" ContentType="image/jpeg"/>
  <Override PartName="/ppt/media/image3.png" ContentType="image/png"/>
  <Override PartName="/ppt/media/image17.png" ContentType="image/png"/>
  <Override PartName="/ppt/media/image14.jpeg" ContentType="image/jpeg"/>
  <Override PartName="/ppt/media/image8.png" ContentType="image/png"/>
  <Override PartName="/ppt/media/image11.png" ContentType="image/png"/>
  <Override PartName="/ppt/media/image39.png" ContentType="image/png"/>
  <Override PartName="/ppt/media/image7.png" ContentType="image/png"/>
  <Override PartName="/ppt/media/image16.png" ContentType="image/png"/>
  <Override PartName="/ppt/media/image12.png" ContentType="image/png"/>
  <Override PartName="/ppt/media/image4.svg" ContentType="image/svg"/>
  <Override PartName="/ppt/media/image13.jpeg" ContentType="image/jpeg"/>
  <Override PartName="/ppt/media/image37.png" ContentType="image/png"/>
  <Override PartName="/ppt/media/image5.png" ContentType="image/png"/>
  <Override PartName="/ppt/media/image33.png" ContentType="image/png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9AC30A-5EFE-4725-9DAB-1B2CDA1ADB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E5F8513-1F24-471C-B4EB-01E6E144A4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CDE1858-F045-4090-A239-24753B83B5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9566391-0C15-4837-9539-22AA6D2583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72900C0-CC69-4AB1-990F-0B1A94FF5F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300AAD5-4CD6-43B4-8DCA-C8B5E21CA7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CAA66A1-FFAF-4859-8373-40A49EC2BB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47ED5F28-43A3-44B0-B28E-BD49D4C50E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2041211-5786-4B35-AC6D-8C52369EDD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BB80D64-2F66-47B1-8D85-3882BEDDF3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4A138332-4065-4D0B-A789-EEE330FE05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E73407-97EE-4680-8E0A-204B7C44F56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24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A8F731D-5A2E-4D60-92FF-67B08B0C54E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F8ADA9-604B-4F99-B35E-7B61B6D65FE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Outlin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ut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D95CA6-55A8-4F0A-A73D-1780CC106A1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88A396-0BC2-439D-8339-DEEF0E6AE51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Outlin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ut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CB3D29-BAD4-4069-9376-C5092BF803C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79362F0-FE42-4B3F-B835-A0AE079F7E5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A9F31F-BF5D-495A-830F-02E6C4DA34E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23B418-4994-42CF-96D0-97BB3B81D52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C5D5DC5-F8D2-4098-B179-2AEC1EE31A6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1D094B5-3674-444B-8996-B6568FBC68C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5.png"/><Relationship Id="rId10" Type="http://schemas.openxmlformats.org/officeDocument/2006/relationships/image" Target="../media/image6.svg"/><Relationship Id="rId11" Type="http://schemas.openxmlformats.org/officeDocument/2006/relationships/image" Target="../media/image3.png"/><Relationship Id="rId12" Type="http://schemas.openxmlformats.org/officeDocument/2006/relationships/image" Target="../media/image4.svg"/><Relationship Id="rId13" Type="http://schemas.openxmlformats.org/officeDocument/2006/relationships/image" Target="../media/image7.png"/><Relationship Id="rId14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5.png"/><Relationship Id="rId10" Type="http://schemas.openxmlformats.org/officeDocument/2006/relationships/image" Target="../media/image6.svg"/><Relationship Id="rId11" Type="http://schemas.openxmlformats.org/officeDocument/2006/relationships/image" Target="../media/image5.png"/><Relationship Id="rId12" Type="http://schemas.openxmlformats.org/officeDocument/2006/relationships/image" Target="../media/image6.svg"/><Relationship Id="rId13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5.png"/><Relationship Id="rId10" Type="http://schemas.openxmlformats.org/officeDocument/2006/relationships/image" Target="../media/image6.svg"/><Relationship Id="rId11" Type="http://schemas.openxmlformats.org/officeDocument/2006/relationships/image" Target="../media/image5.png"/><Relationship Id="rId12" Type="http://schemas.openxmlformats.org/officeDocument/2006/relationships/image" Target="../media/image6.svg"/><Relationship Id="rId13" Type="http://schemas.openxmlformats.org/officeDocument/2006/relationships/image" Target="../media/image8.png"/><Relationship Id="rId14" Type="http://schemas.openxmlformats.org/officeDocument/2006/relationships/image" Target="../media/image9.png"/><Relationship Id="rId15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5.png"/><Relationship Id="rId10" Type="http://schemas.openxmlformats.org/officeDocument/2006/relationships/image" Target="../media/image6.svg"/><Relationship Id="rId11" Type="http://schemas.openxmlformats.org/officeDocument/2006/relationships/image" Target="../media/image5.png"/><Relationship Id="rId12" Type="http://schemas.openxmlformats.org/officeDocument/2006/relationships/image" Target="../media/image6.svg"/><Relationship Id="rId13" Type="http://schemas.openxmlformats.org/officeDocument/2006/relationships/image" Target="../media/image10.jpeg"/><Relationship Id="rId14" Type="http://schemas.openxmlformats.org/officeDocument/2006/relationships/image" Target="../media/image11.png"/><Relationship Id="rId15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5.png"/><Relationship Id="rId10" Type="http://schemas.openxmlformats.org/officeDocument/2006/relationships/image" Target="../media/image6.svg"/><Relationship Id="rId11" Type="http://schemas.openxmlformats.org/officeDocument/2006/relationships/image" Target="../media/image5.png"/><Relationship Id="rId12" Type="http://schemas.openxmlformats.org/officeDocument/2006/relationships/image" Target="../media/image6.svg"/><Relationship Id="rId13" Type="http://schemas.openxmlformats.org/officeDocument/2006/relationships/image" Target="../media/image12.png"/><Relationship Id="rId14" Type="http://schemas.openxmlformats.org/officeDocument/2006/relationships/image" Target="../media/image13.jpeg"/><Relationship Id="rId15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5.png"/><Relationship Id="rId10" Type="http://schemas.openxmlformats.org/officeDocument/2006/relationships/image" Target="../media/image6.svg"/><Relationship Id="rId11" Type="http://schemas.openxmlformats.org/officeDocument/2006/relationships/image" Target="../media/image5.png"/><Relationship Id="rId12" Type="http://schemas.openxmlformats.org/officeDocument/2006/relationships/image" Target="../media/image6.svg"/><Relationship Id="rId13" Type="http://schemas.openxmlformats.org/officeDocument/2006/relationships/image" Target="../media/image14.jpeg"/><Relationship Id="rId14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5.png"/><Relationship Id="rId10" Type="http://schemas.openxmlformats.org/officeDocument/2006/relationships/image" Target="../media/image6.svg"/><Relationship Id="rId11" Type="http://schemas.openxmlformats.org/officeDocument/2006/relationships/image" Target="../media/image5.png"/><Relationship Id="rId12" Type="http://schemas.openxmlformats.org/officeDocument/2006/relationships/image" Target="../media/image6.sv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5.png"/><Relationship Id="rId10" Type="http://schemas.openxmlformats.org/officeDocument/2006/relationships/image" Target="../media/image6.svg"/><Relationship Id="rId11" Type="http://schemas.openxmlformats.org/officeDocument/2006/relationships/image" Target="../media/image5.png"/><Relationship Id="rId12" Type="http://schemas.openxmlformats.org/officeDocument/2006/relationships/image" Target="../media/image6.sv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3.png"/><Relationship Id="rId9" Type="http://schemas.openxmlformats.org/officeDocument/2006/relationships/image" Target="../media/image4.svg"/><Relationship Id="rId10" Type="http://schemas.openxmlformats.org/officeDocument/2006/relationships/image" Target="../media/image5.png"/><Relationship Id="rId11" Type="http://schemas.openxmlformats.org/officeDocument/2006/relationships/image" Target="../media/image6.svg"/><Relationship Id="rId12" Type="http://schemas.openxmlformats.org/officeDocument/2006/relationships/image" Target="../media/image5.png"/><Relationship Id="rId13" Type="http://schemas.openxmlformats.org/officeDocument/2006/relationships/image" Target="../media/image6.svg"/><Relationship Id="rId14" Type="http://schemas.openxmlformats.org/officeDocument/2006/relationships/image" Target="../media/image20.png"/><Relationship Id="rId15" Type="http://schemas.openxmlformats.org/officeDocument/2006/relationships/image" Target="../media/image21.png"/><Relationship Id="rId16" Type="http://schemas.openxmlformats.org/officeDocument/2006/relationships/image" Target="../media/image22.png"/><Relationship Id="rId17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5.png"/><Relationship Id="rId10" Type="http://schemas.openxmlformats.org/officeDocument/2006/relationships/image" Target="../media/image6.svg"/><Relationship Id="rId11" Type="http://schemas.openxmlformats.org/officeDocument/2006/relationships/image" Target="../media/image18.png"/><Relationship Id="rId1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5.png"/><Relationship Id="rId10" Type="http://schemas.openxmlformats.org/officeDocument/2006/relationships/image" Target="../media/image6.svg"/><Relationship Id="rId11" Type="http://schemas.openxmlformats.org/officeDocument/2006/relationships/image" Target="../media/image18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5.png"/><Relationship Id="rId10" Type="http://schemas.openxmlformats.org/officeDocument/2006/relationships/image" Target="../media/image6.svg"/><Relationship Id="rId11" Type="http://schemas.openxmlformats.org/officeDocument/2006/relationships/image" Target="../media/image18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18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png"/><Relationship Id="rId14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18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18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5.png"/><Relationship Id="rId10" Type="http://schemas.openxmlformats.org/officeDocument/2006/relationships/image" Target="../media/image6.svg"/><Relationship Id="rId11" Type="http://schemas.openxmlformats.org/officeDocument/2006/relationships/image" Target="../media/image5.png"/><Relationship Id="rId12" Type="http://schemas.openxmlformats.org/officeDocument/2006/relationships/image" Target="../media/image6.svg"/><Relationship Id="rId13" Type="http://schemas.openxmlformats.org/officeDocument/2006/relationships/image" Target="../media/image8.png"/><Relationship Id="rId14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5.png"/><Relationship Id="rId10" Type="http://schemas.openxmlformats.org/officeDocument/2006/relationships/image" Target="../media/image6.svg"/><Relationship Id="rId11" Type="http://schemas.openxmlformats.org/officeDocument/2006/relationships/image" Target="../media/image5.png"/><Relationship Id="rId12" Type="http://schemas.openxmlformats.org/officeDocument/2006/relationships/image" Target="../media/image6.svg"/><Relationship Id="rId13" Type="http://schemas.openxmlformats.org/officeDocument/2006/relationships/image" Target="../media/image8.png"/><Relationship Id="rId14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5.png"/><Relationship Id="rId10" Type="http://schemas.openxmlformats.org/officeDocument/2006/relationships/image" Target="../media/image6.svg"/><Relationship Id="rId11" Type="http://schemas.openxmlformats.org/officeDocument/2006/relationships/image" Target="../media/image5.png"/><Relationship Id="rId12" Type="http://schemas.openxmlformats.org/officeDocument/2006/relationships/image" Target="../media/image6.svg"/><Relationship Id="rId13" Type="http://schemas.openxmlformats.org/officeDocument/2006/relationships/image" Target="../media/image8.png"/><Relationship Id="rId14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5.png"/><Relationship Id="rId10" Type="http://schemas.openxmlformats.org/officeDocument/2006/relationships/image" Target="../media/image6.svg"/><Relationship Id="rId11" Type="http://schemas.openxmlformats.org/officeDocument/2006/relationships/image" Target="../media/image8.png"/><Relationship Id="rId12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5.png"/><Relationship Id="rId10" Type="http://schemas.openxmlformats.org/officeDocument/2006/relationships/image" Target="../media/image6.svg"/><Relationship Id="rId11" Type="http://schemas.openxmlformats.org/officeDocument/2006/relationships/image" Target="../media/image5.png"/><Relationship Id="rId12" Type="http://schemas.openxmlformats.org/officeDocument/2006/relationships/image" Target="../media/image6.svg"/><Relationship Id="rId13" Type="http://schemas.openxmlformats.org/officeDocument/2006/relationships/image" Target="../media/image8.png"/><Relationship Id="rId14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5.png"/><Relationship Id="rId10" Type="http://schemas.openxmlformats.org/officeDocument/2006/relationships/image" Target="../media/image6.svg"/><Relationship Id="rId11" Type="http://schemas.openxmlformats.org/officeDocument/2006/relationships/image" Target="../media/image5.png"/><Relationship Id="rId12" Type="http://schemas.openxmlformats.org/officeDocument/2006/relationships/image" Target="../media/image6.svg"/><Relationship Id="rId13" Type="http://schemas.openxmlformats.org/officeDocument/2006/relationships/image" Target="../media/image8.png"/><Relationship Id="rId14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5.png"/><Relationship Id="rId10" Type="http://schemas.openxmlformats.org/officeDocument/2006/relationships/image" Target="../media/image6.svg"/><Relationship Id="rId11" Type="http://schemas.openxmlformats.org/officeDocument/2006/relationships/image" Target="../media/image5.png"/><Relationship Id="rId12" Type="http://schemas.openxmlformats.org/officeDocument/2006/relationships/image" Target="../media/image6.svg"/><Relationship Id="rId13" Type="http://schemas.openxmlformats.org/officeDocument/2006/relationships/image" Target="../media/image8.png"/><Relationship Id="rId14" Type="http://schemas.openxmlformats.org/officeDocument/2006/relationships/image" Target="../media/image37.png"/><Relationship Id="rId15" Type="http://schemas.openxmlformats.org/officeDocument/2006/relationships/image" Target="../media/image38.jpeg"/><Relationship Id="rId16" Type="http://schemas.openxmlformats.org/officeDocument/2006/relationships/image" Target="../media/image39.png"/><Relationship Id="rId17" Type="http://schemas.openxmlformats.org/officeDocument/2006/relationships/image" Target="../media/image40.png"/><Relationship Id="rId18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5.png"/><Relationship Id="rId10" Type="http://schemas.openxmlformats.org/officeDocument/2006/relationships/image" Target="../media/image6.svg"/><Relationship Id="rId11" Type="http://schemas.openxmlformats.org/officeDocument/2006/relationships/image" Target="../media/image5.png"/><Relationship Id="rId12" Type="http://schemas.openxmlformats.org/officeDocument/2006/relationships/image" Target="../media/image6.svg"/><Relationship Id="rId13" Type="http://schemas.openxmlformats.org/officeDocument/2006/relationships/image" Target="../media/image8.png"/><Relationship Id="rId14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8.png"/><Relationship Id="rId10" Type="http://schemas.openxmlformats.org/officeDocument/2006/relationships/image" Target="../media/image41.png"/><Relationship Id="rId1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 2"/>
          <p:cNvSpPr/>
          <p:nvPr/>
        </p:nvSpPr>
        <p:spPr>
          <a:xfrm>
            <a:off x="642960" y="8977320"/>
            <a:ext cx="7313040" cy="769320"/>
          </a:xfrm>
          <a:custGeom>
            <a:avLst/>
            <a:gdLst>
              <a:gd name="textAreaLeft" fmla="*/ 0 w 7313040"/>
              <a:gd name="textAreaRight" fmla="*/ 731520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2"/>
                </a:lnTo>
                <a:lnTo>
                  <a:pt x="0" y="7714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Freeform 3"/>
          <p:cNvSpPr/>
          <p:nvPr/>
        </p:nvSpPr>
        <p:spPr>
          <a:xfrm flipH="1">
            <a:off x="9942120" y="642960"/>
            <a:ext cx="7313040" cy="769320"/>
          </a:xfrm>
          <a:custGeom>
            <a:avLst/>
            <a:gdLst>
              <a:gd name="textAreaLeft" fmla="*/ -1080 w 7313040"/>
              <a:gd name="textAreaRight" fmla="*/ 731412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2"/>
                </a:lnTo>
                <a:lnTo>
                  <a:pt x="7315200" y="771422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Freeform 4"/>
          <p:cNvSpPr/>
          <p:nvPr/>
        </p:nvSpPr>
        <p:spPr>
          <a:xfrm>
            <a:off x="15202080" y="801036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Freeform 5"/>
          <p:cNvSpPr/>
          <p:nvPr/>
        </p:nvSpPr>
        <p:spPr>
          <a:xfrm rot="16200000">
            <a:off x="-1621080" y="54082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Freeform 6"/>
          <p:cNvSpPr/>
          <p:nvPr/>
        </p:nvSpPr>
        <p:spPr>
          <a:xfrm flipV="1" rot="16200000">
            <a:off x="14609520" y="41068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1080 h 769320"/>
              <a:gd name="textAreaBottom" fmla="*/ 77256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Freeform 10"/>
          <p:cNvSpPr/>
          <p:nvPr/>
        </p:nvSpPr>
        <p:spPr>
          <a:xfrm flipV="1">
            <a:off x="-1503000" y="-1507320"/>
            <a:ext cx="3008160" cy="3008160"/>
          </a:xfrm>
          <a:custGeom>
            <a:avLst/>
            <a:gdLst>
              <a:gd name="textAreaLeft" fmla="*/ 0 w 3008160"/>
              <a:gd name="textAreaRight" fmla="*/ 3010320 w 3008160"/>
              <a:gd name="textAreaTop" fmla="*/ 1080 h 3008160"/>
              <a:gd name="textAreaBottom" fmla="*/ 3011400 h 3008160"/>
            </a:gdLst>
            <a:ahLst/>
            <a:rect l="textAreaLeft" t="textAreaTop" r="textAreaRight" b="textAreaBottom"/>
            <a:pathLst>
              <a:path w="3010233" h="3010233">
                <a:moveTo>
                  <a:pt x="0" y="3010232"/>
                </a:moveTo>
                <a:lnTo>
                  <a:pt x="3010232" y="3010232"/>
                </a:lnTo>
                <a:lnTo>
                  <a:pt x="3010232" y="0"/>
                </a:lnTo>
                <a:lnTo>
                  <a:pt x="0" y="0"/>
                </a:lnTo>
                <a:lnTo>
                  <a:pt x="0" y="3010232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6" name="Group 11"/>
          <p:cNvGrpSpPr/>
          <p:nvPr/>
        </p:nvGrpSpPr>
        <p:grpSpPr>
          <a:xfrm>
            <a:off x="792000" y="232920"/>
            <a:ext cx="2372040" cy="2372040"/>
            <a:chOff x="792000" y="232920"/>
            <a:chExt cx="2372040" cy="2372040"/>
          </a:xfrm>
        </p:grpSpPr>
        <p:sp>
          <p:nvSpPr>
            <p:cNvPr id="57" name="Freeform 12"/>
            <p:cNvSpPr/>
            <p:nvPr/>
          </p:nvSpPr>
          <p:spPr>
            <a:xfrm>
              <a:off x="792000" y="232920"/>
              <a:ext cx="2372040" cy="2372040"/>
            </a:xfrm>
            <a:custGeom>
              <a:avLst/>
              <a:gdLst>
                <a:gd name="textAreaLeft" fmla="*/ 0 w 2372040"/>
                <a:gd name="textAreaRight" fmla="*/ 2374200 w 2372040"/>
                <a:gd name="textAreaTop" fmla="*/ 0 h 2372040"/>
                <a:gd name="textAreaBottom" fmla="*/ 2374200 h 237204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1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8" name="TextBox 13"/>
          <p:cNvSpPr/>
          <p:nvPr/>
        </p:nvSpPr>
        <p:spPr>
          <a:xfrm>
            <a:off x="4999680" y="6828840"/>
            <a:ext cx="8259120" cy="7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32"/>
              </a:lnSpc>
              <a:tabLst>
                <a:tab algn="l" pos="0"/>
              </a:tabLst>
            </a:pPr>
            <a:r>
              <a:rPr b="0" lang="en-US" sz="3759" spc="97" strike="noStrike">
                <a:solidFill>
                  <a:srgbClr val="d9d9d9"/>
                </a:solidFill>
                <a:latin typeface="Sansation"/>
                <a:ea typeface="Sansation"/>
              </a:rPr>
              <a:t> </a:t>
            </a:r>
            <a:r>
              <a:rPr b="0" lang="en-US" sz="3759" spc="97" strike="noStrike">
                <a:solidFill>
                  <a:srgbClr val="d9d9d9"/>
                </a:solidFill>
                <a:latin typeface="Sansation"/>
                <a:ea typeface="Sansation"/>
              </a:rPr>
              <a:t>Eng.Mostafa Abdelzaher</a:t>
            </a:r>
            <a:endParaRPr b="0" lang="en-US" sz="375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Box 14"/>
          <p:cNvSpPr/>
          <p:nvPr/>
        </p:nvSpPr>
        <p:spPr>
          <a:xfrm>
            <a:off x="792000" y="4934880"/>
            <a:ext cx="16701480" cy="11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9028"/>
              </a:lnSpc>
              <a:tabLst>
                <a:tab algn="l" pos="0"/>
              </a:tabLst>
            </a:pPr>
            <a:r>
              <a:rPr b="0" lang="en-US" sz="7519" spc="58" strike="noStrike">
                <a:solidFill>
                  <a:srgbClr val="d9d9d9"/>
                </a:solidFill>
                <a:latin typeface="HK Modular"/>
                <a:ea typeface="HK Modular"/>
              </a:rPr>
              <a:t>FOR DATA SCIENCE</a:t>
            </a:r>
            <a:endParaRPr b="0" lang="en-US" sz="751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Box 15"/>
          <p:cNvSpPr/>
          <p:nvPr/>
        </p:nvSpPr>
        <p:spPr>
          <a:xfrm>
            <a:off x="3530160" y="3087000"/>
            <a:ext cx="112255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400"/>
              </a:lnSpc>
              <a:tabLst>
                <a:tab algn="l" pos="0"/>
              </a:tabLst>
            </a:pPr>
            <a:r>
              <a:rPr b="0" lang="en-US" sz="12000" spc="344" strike="noStrike">
                <a:solidFill>
                  <a:srgbClr val="d9d9d9"/>
                </a:solidFill>
                <a:latin typeface="HK Modular"/>
                <a:ea typeface="HK Modular"/>
              </a:rPr>
              <a:t>PYTHON</a:t>
            </a:r>
            <a:endParaRPr b="0" lang="en-US" sz="1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 2"/>
          <p:cNvSpPr/>
          <p:nvPr/>
        </p:nvSpPr>
        <p:spPr>
          <a:xfrm>
            <a:off x="1028880" y="8872560"/>
            <a:ext cx="7313040" cy="769320"/>
          </a:xfrm>
          <a:custGeom>
            <a:avLst/>
            <a:gdLst>
              <a:gd name="textAreaLeft" fmla="*/ 0 w 7313040"/>
              <a:gd name="textAreaRight" fmla="*/ 731520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2"/>
                </a:lnTo>
                <a:lnTo>
                  <a:pt x="0" y="7714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Freeform 3"/>
          <p:cNvSpPr/>
          <p:nvPr/>
        </p:nvSpPr>
        <p:spPr>
          <a:xfrm flipH="1">
            <a:off x="9942120" y="642960"/>
            <a:ext cx="7313040" cy="769320"/>
          </a:xfrm>
          <a:custGeom>
            <a:avLst/>
            <a:gdLst>
              <a:gd name="textAreaLeft" fmla="*/ -1080 w 7313040"/>
              <a:gd name="textAreaRight" fmla="*/ 731412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2"/>
                </a:lnTo>
                <a:lnTo>
                  <a:pt x="7315200" y="771422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Freeform 4"/>
          <p:cNvSpPr/>
          <p:nvPr/>
        </p:nvSpPr>
        <p:spPr>
          <a:xfrm>
            <a:off x="15202080" y="801036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Freeform 5"/>
          <p:cNvSpPr/>
          <p:nvPr/>
        </p:nvSpPr>
        <p:spPr>
          <a:xfrm flipV="1">
            <a:off x="-2055240" y="-228780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1080 h 4112640"/>
              <a:gd name="textAreaBottom" fmla="*/ 411588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Freeform 6"/>
          <p:cNvSpPr/>
          <p:nvPr/>
        </p:nvSpPr>
        <p:spPr>
          <a:xfrm rot="16200000">
            <a:off x="-2006640" y="54082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Freeform 7"/>
          <p:cNvSpPr/>
          <p:nvPr/>
        </p:nvSpPr>
        <p:spPr>
          <a:xfrm flipV="1" rot="16200000">
            <a:off x="14609520" y="41068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1080 h 769320"/>
              <a:gd name="textAreaBottom" fmla="*/ 77256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7" name="Group 8"/>
          <p:cNvGrpSpPr/>
          <p:nvPr/>
        </p:nvGrpSpPr>
        <p:grpSpPr>
          <a:xfrm>
            <a:off x="1660320" y="2605320"/>
            <a:ext cx="5671440" cy="923400"/>
            <a:chOff x="1660320" y="2605320"/>
            <a:chExt cx="5671440" cy="923400"/>
          </a:xfrm>
        </p:grpSpPr>
        <p:grpSp>
          <p:nvGrpSpPr>
            <p:cNvPr id="68" name="Group 9"/>
            <p:cNvGrpSpPr/>
            <p:nvPr/>
          </p:nvGrpSpPr>
          <p:grpSpPr>
            <a:xfrm>
              <a:off x="1660320" y="2605320"/>
              <a:ext cx="5671440" cy="923400"/>
              <a:chOff x="1660320" y="2605320"/>
              <a:chExt cx="5671440" cy="923400"/>
            </a:xfrm>
          </p:grpSpPr>
          <p:sp>
            <p:nvSpPr>
              <p:cNvPr id="69" name="Freeform 10"/>
              <p:cNvSpPr/>
              <p:nvPr/>
            </p:nvSpPr>
            <p:spPr>
              <a:xfrm>
                <a:off x="1660320" y="2750040"/>
                <a:ext cx="5671440" cy="778680"/>
              </a:xfrm>
              <a:custGeom>
                <a:avLst/>
                <a:gdLst>
                  <a:gd name="textAreaLeft" fmla="*/ 0 w 5671440"/>
                  <a:gd name="textAreaRight" fmla="*/ 5673600 w 5671440"/>
                  <a:gd name="textAreaTop" fmla="*/ 0 h 778680"/>
                  <a:gd name="textAreaBottom" fmla="*/ 780840 h 778680"/>
                </a:gdLst>
                <a:ahLst/>
                <a:rect l="textAreaLeft" t="textAreaTop" r="textAreaRight" b="textAreaBottom"/>
                <a:pathLst>
                  <a:path w="1494287" h="205684">
                    <a:moveTo>
                      <a:pt x="0" y="0"/>
                    </a:moveTo>
                    <a:lnTo>
                      <a:pt x="1494287" y="0"/>
                    </a:lnTo>
                    <a:lnTo>
                      <a:pt x="1494287" y="205684"/>
                    </a:lnTo>
                    <a:lnTo>
                      <a:pt x="0" y="205684"/>
                    </a:lnTo>
                    <a:close/>
                  </a:path>
                </a:pathLst>
              </a:custGeom>
              <a:solidFill>
                <a:srgbClr val="0097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70" name="TextBox 11"/>
              <p:cNvSpPr/>
              <p:nvPr/>
            </p:nvSpPr>
            <p:spPr>
              <a:xfrm>
                <a:off x="1660320" y="2605320"/>
                <a:ext cx="5671440" cy="923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 defTabSz="914400">
                  <a:lnSpc>
                    <a:spcPts val="2659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sp>
          <p:nvSpPr>
            <p:cNvPr id="71" name="TextBox 12"/>
            <p:cNvSpPr/>
            <p:nvPr/>
          </p:nvSpPr>
          <p:spPr>
            <a:xfrm>
              <a:off x="2035080" y="2889000"/>
              <a:ext cx="4922280" cy="48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3832"/>
                </a:lnSpc>
                <a:tabLst>
                  <a:tab algn="l" pos="0"/>
                </a:tabLst>
              </a:pPr>
              <a:r>
                <a:rPr b="0" lang="en-US" sz="2550" spc="60" strike="noStrike">
                  <a:solidFill>
                    <a:srgbClr val="ffffff"/>
                  </a:solidFill>
                  <a:latin typeface="Sansation"/>
                  <a:ea typeface="Sansation"/>
                </a:rPr>
                <a:t>Extensive Library Ecosystem</a:t>
              </a:r>
              <a:endParaRPr b="0" lang="en-US" sz="255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2" name="TextBox 13"/>
          <p:cNvSpPr/>
          <p:nvPr/>
        </p:nvSpPr>
        <p:spPr>
          <a:xfrm>
            <a:off x="3395160" y="1684080"/>
            <a:ext cx="11495880" cy="53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209"/>
              </a:lnSpc>
              <a:tabLst>
                <a:tab algn="l" pos="0"/>
              </a:tabLst>
            </a:pPr>
            <a:r>
              <a:rPr b="0" lang="en-US" sz="5000" spc="89" strike="noStrike">
                <a:solidFill>
                  <a:srgbClr val="d9d9d9"/>
                </a:solidFill>
                <a:latin typeface="HK Modular"/>
                <a:ea typeface="HK Modular"/>
              </a:rPr>
              <a:t>WHY PYTHON FOR DATA SCIENCE?</a:t>
            </a:r>
            <a:endParaRPr b="0" lang="en-US" sz="50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73" name="Group 14"/>
          <p:cNvGrpSpPr/>
          <p:nvPr/>
        </p:nvGrpSpPr>
        <p:grpSpPr>
          <a:xfrm>
            <a:off x="10328760" y="2732400"/>
            <a:ext cx="5671440" cy="923400"/>
            <a:chOff x="10328760" y="2732400"/>
            <a:chExt cx="5671440" cy="923400"/>
          </a:xfrm>
        </p:grpSpPr>
        <p:grpSp>
          <p:nvGrpSpPr>
            <p:cNvPr id="74" name="Group 15"/>
            <p:cNvGrpSpPr/>
            <p:nvPr/>
          </p:nvGrpSpPr>
          <p:grpSpPr>
            <a:xfrm>
              <a:off x="10328760" y="2732400"/>
              <a:ext cx="5671440" cy="923400"/>
              <a:chOff x="10328760" y="2732400"/>
              <a:chExt cx="5671440" cy="923400"/>
            </a:xfrm>
          </p:grpSpPr>
          <p:sp>
            <p:nvSpPr>
              <p:cNvPr id="75" name="Freeform 16"/>
              <p:cNvSpPr/>
              <p:nvPr/>
            </p:nvSpPr>
            <p:spPr>
              <a:xfrm>
                <a:off x="10328760" y="2877120"/>
                <a:ext cx="5671440" cy="778680"/>
              </a:xfrm>
              <a:custGeom>
                <a:avLst/>
                <a:gdLst>
                  <a:gd name="textAreaLeft" fmla="*/ 0 w 5671440"/>
                  <a:gd name="textAreaRight" fmla="*/ 5673600 w 5671440"/>
                  <a:gd name="textAreaTop" fmla="*/ 0 h 778680"/>
                  <a:gd name="textAreaBottom" fmla="*/ 780840 h 778680"/>
                </a:gdLst>
                <a:ahLst/>
                <a:rect l="textAreaLeft" t="textAreaTop" r="textAreaRight" b="textAreaBottom"/>
                <a:pathLst>
                  <a:path w="1494287" h="205684">
                    <a:moveTo>
                      <a:pt x="0" y="0"/>
                    </a:moveTo>
                    <a:lnTo>
                      <a:pt x="1494287" y="0"/>
                    </a:lnTo>
                    <a:lnTo>
                      <a:pt x="1494287" y="205684"/>
                    </a:lnTo>
                    <a:lnTo>
                      <a:pt x="0" y="205684"/>
                    </a:lnTo>
                    <a:close/>
                  </a:path>
                </a:pathLst>
              </a:custGeom>
              <a:solidFill>
                <a:srgbClr val="0097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76" name="TextBox 17"/>
              <p:cNvSpPr/>
              <p:nvPr/>
            </p:nvSpPr>
            <p:spPr>
              <a:xfrm>
                <a:off x="10328760" y="2732400"/>
                <a:ext cx="5671440" cy="923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 defTabSz="914400">
                  <a:lnSpc>
                    <a:spcPts val="2659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sp>
          <p:nvSpPr>
            <p:cNvPr id="77" name="TextBox 18"/>
            <p:cNvSpPr/>
            <p:nvPr/>
          </p:nvSpPr>
          <p:spPr>
            <a:xfrm>
              <a:off x="10820880" y="2986560"/>
              <a:ext cx="4687200" cy="5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4133"/>
                </a:lnSpc>
                <a:tabLst>
                  <a:tab algn="l" pos="0"/>
                </a:tabLst>
              </a:pPr>
              <a:r>
                <a:rPr b="0" lang="en-US" sz="2760" spc="66" strike="noStrike">
                  <a:solidFill>
                    <a:srgbClr val="ffffff"/>
                  </a:solidFill>
                  <a:latin typeface="Sansation"/>
                  <a:ea typeface="Sansation"/>
                </a:rPr>
                <a:t>Performance &amp; Scalability</a:t>
              </a:r>
              <a:endParaRPr b="0" lang="en-US" sz="276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8" name=""/>
          <p:cNvGrpSpPr/>
          <p:nvPr/>
        </p:nvGrpSpPr>
        <p:grpSpPr>
          <a:xfrm>
            <a:off x="1600200" y="5932800"/>
            <a:ext cx="5671440" cy="923400"/>
            <a:chOff x="1600200" y="5932800"/>
            <a:chExt cx="5671440" cy="923400"/>
          </a:xfrm>
        </p:grpSpPr>
        <p:grpSp>
          <p:nvGrpSpPr>
            <p:cNvPr id="79" name="Group 19"/>
            <p:cNvGrpSpPr/>
            <p:nvPr/>
          </p:nvGrpSpPr>
          <p:grpSpPr>
            <a:xfrm>
              <a:off x="1600200" y="5932800"/>
              <a:ext cx="5671440" cy="923400"/>
              <a:chOff x="1600200" y="5932800"/>
              <a:chExt cx="5671440" cy="923400"/>
            </a:xfrm>
          </p:grpSpPr>
          <p:sp>
            <p:nvSpPr>
              <p:cNvPr id="80" name="Freeform 20"/>
              <p:cNvSpPr/>
              <p:nvPr/>
            </p:nvSpPr>
            <p:spPr>
              <a:xfrm>
                <a:off x="1600200" y="6077160"/>
                <a:ext cx="5671440" cy="778680"/>
              </a:xfrm>
              <a:custGeom>
                <a:avLst/>
                <a:gdLst>
                  <a:gd name="textAreaLeft" fmla="*/ 0 w 5671440"/>
                  <a:gd name="textAreaRight" fmla="*/ 5673600 w 5671440"/>
                  <a:gd name="textAreaTop" fmla="*/ 0 h 778680"/>
                  <a:gd name="textAreaBottom" fmla="*/ 780840 h 778680"/>
                </a:gdLst>
                <a:ahLst/>
                <a:rect l="textAreaLeft" t="textAreaTop" r="textAreaRight" b="textAreaBottom"/>
                <a:pathLst>
                  <a:path w="1494287" h="205684">
                    <a:moveTo>
                      <a:pt x="0" y="0"/>
                    </a:moveTo>
                    <a:lnTo>
                      <a:pt x="1494287" y="0"/>
                    </a:lnTo>
                    <a:lnTo>
                      <a:pt x="1494287" y="205684"/>
                    </a:lnTo>
                    <a:lnTo>
                      <a:pt x="0" y="205684"/>
                    </a:lnTo>
                    <a:close/>
                  </a:path>
                </a:pathLst>
              </a:custGeom>
              <a:solidFill>
                <a:srgbClr val="1e88e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1" name="TextBox 21"/>
              <p:cNvSpPr/>
              <p:nvPr/>
            </p:nvSpPr>
            <p:spPr>
              <a:xfrm>
                <a:off x="1600200" y="5932800"/>
                <a:ext cx="5671440" cy="923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 defTabSz="914400">
                  <a:lnSpc>
                    <a:spcPts val="2659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sp>
          <p:nvSpPr>
            <p:cNvPr id="82" name="TextBox 22"/>
            <p:cNvSpPr/>
            <p:nvPr/>
          </p:nvSpPr>
          <p:spPr>
            <a:xfrm>
              <a:off x="1940400" y="5932800"/>
              <a:ext cx="4687200" cy="714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5632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b="0" lang="en-US" sz="2500" spc="97" strike="noStrike">
                  <a:solidFill>
                    <a:srgbClr val="fafafa"/>
                  </a:solidFill>
                  <a:latin typeface="Sansation"/>
                  <a:ea typeface="Sansation"/>
                </a:rPr>
                <a:t>Community &amp; Support</a:t>
              </a:r>
              <a:endParaRPr b="0" lang="en-US" sz="25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3" name="TextBox 23"/>
          <p:cNvSpPr/>
          <p:nvPr/>
        </p:nvSpPr>
        <p:spPr>
          <a:xfrm>
            <a:off x="1686600" y="3824280"/>
            <a:ext cx="7227000" cy="14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682"/>
              </a:lnSpc>
              <a:tabLst>
                <a:tab algn="l" pos="0"/>
              </a:tabLst>
            </a:pPr>
            <a:r>
              <a:rPr b="0" lang="en-US" sz="2450" spc="58" strike="noStrike">
                <a:solidFill>
                  <a:srgbClr val="d9d9d9"/>
                </a:solidFill>
                <a:latin typeface="Sansation"/>
                <a:ea typeface="Sansation"/>
              </a:rPr>
              <a:t>Python provides a robust ecosystem of specialized libraries designed for every stage of the data pipeline</a:t>
            </a:r>
            <a:endParaRPr b="0" lang="en-US" sz="2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AutoShape 25"/>
          <p:cNvSpPr/>
          <p:nvPr/>
        </p:nvSpPr>
        <p:spPr>
          <a:xfrm>
            <a:off x="9144000" y="2749680"/>
            <a:ext cx="360" cy="607824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Box 26"/>
          <p:cNvSpPr/>
          <p:nvPr/>
        </p:nvSpPr>
        <p:spPr>
          <a:xfrm flipH="1">
            <a:off x="9668520" y="3782160"/>
            <a:ext cx="7164360" cy="46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682"/>
              </a:lnSpc>
              <a:tabLst>
                <a:tab algn="l" pos="0"/>
              </a:tabLst>
            </a:pPr>
            <a:r>
              <a:rPr b="0" lang="en-US" sz="2500" spc="58" strike="noStrike">
                <a:solidFill>
                  <a:srgbClr val="fafafa"/>
                </a:solidFill>
                <a:latin typeface="Sansation"/>
              </a:rPr>
              <a:t>While Python is an interpreted language,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682"/>
              </a:lnSpc>
              <a:tabLst>
                <a:tab algn="l" pos="0"/>
              </a:tabLst>
            </a:pPr>
            <a:r>
              <a:rPr b="0" lang="en-US" sz="2500" spc="58" strike="noStrike">
                <a:solidFill>
                  <a:srgbClr val="fafafa"/>
                </a:solidFill>
                <a:latin typeface="Sansation"/>
              </a:rPr>
              <a:t> </a:t>
            </a:r>
            <a:r>
              <a:rPr b="0" lang="en-US" sz="2500" spc="58" strike="noStrike">
                <a:solidFill>
                  <a:srgbClr val="fafafa"/>
                </a:solidFill>
                <a:latin typeface="Sansation"/>
              </a:rPr>
              <a:t>its data libraries are built on top of C.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682"/>
              </a:lnSpc>
              <a:tabLst>
                <a:tab algn="l" pos="0"/>
              </a:tabLst>
            </a:pPr>
            <a:r>
              <a:rPr b="0" lang="en-US" sz="2500" spc="58" strike="noStrike">
                <a:solidFill>
                  <a:srgbClr val="fafafa"/>
                </a:solidFill>
                <a:latin typeface="Sansation"/>
              </a:rPr>
              <a:t>This allows for: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ts val="3682"/>
              </a:lnSpc>
              <a:buClr>
                <a:srgbClr val="d9d9d9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1" lang="en-US" sz="2500" spc="58" strike="noStrike">
                <a:solidFill>
                  <a:srgbClr val="fafafa"/>
                </a:solidFill>
                <a:latin typeface="Sansation"/>
              </a:rPr>
              <a:t>Vectorized Operations</a:t>
            </a:r>
            <a:r>
              <a:rPr b="0" lang="en-US" sz="2500" spc="58" strike="noStrike">
                <a:solidFill>
                  <a:srgbClr val="fafafa"/>
                </a:solidFill>
                <a:latin typeface="Sansation"/>
              </a:rPr>
              <a:t>: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682"/>
              </a:lnSpc>
              <a:tabLst>
                <a:tab algn="l" pos="0"/>
              </a:tabLst>
            </a:pPr>
            <a:r>
              <a:rPr b="0" lang="en-US" sz="2500" spc="58" strike="noStrike">
                <a:solidFill>
                  <a:srgbClr val="fafafa"/>
                </a:solidFill>
                <a:latin typeface="Sansation"/>
              </a:rPr>
              <a:t> </a:t>
            </a:r>
            <a:r>
              <a:rPr b="0" lang="en-US" sz="2500" spc="58" strike="noStrike">
                <a:solidFill>
                  <a:srgbClr val="fafafa"/>
                </a:solidFill>
                <a:latin typeface="Sansation"/>
              </a:rPr>
              <a:t>Executing complex mathematical calculations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682"/>
              </a:lnSpc>
              <a:tabLst>
                <a:tab algn="l" pos="0"/>
              </a:tabLst>
            </a:pPr>
            <a:r>
              <a:rPr b="0" lang="en-US" sz="2500" spc="58" strike="noStrike">
                <a:solidFill>
                  <a:srgbClr val="fafafa"/>
                </a:solidFill>
                <a:latin typeface="Sansation"/>
              </a:rPr>
              <a:t> </a:t>
            </a:r>
            <a:r>
              <a:rPr b="0" lang="en-US" sz="2500" spc="58" strike="noStrike">
                <a:solidFill>
                  <a:srgbClr val="fafafa"/>
                </a:solidFill>
                <a:latin typeface="Sansation"/>
              </a:rPr>
              <a:t>at high speeds.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ts val="3682"/>
              </a:lnSpc>
              <a:buClr>
                <a:srgbClr val="d9d9d9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1" lang="en-US" sz="2500" spc="58" strike="noStrike">
                <a:solidFill>
                  <a:srgbClr val="fafafa"/>
                </a:solidFill>
                <a:latin typeface="Sansation"/>
              </a:rPr>
              <a:t>Integration:</a:t>
            </a:r>
            <a:r>
              <a:rPr b="0" lang="en-US" sz="2500" spc="58" strike="noStrike">
                <a:solidFill>
                  <a:srgbClr val="fafafa"/>
                </a:solidFill>
                <a:latin typeface="Sansation"/>
              </a:rPr>
              <a:t> 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682"/>
              </a:lnSpc>
              <a:tabLst>
                <a:tab algn="l" pos="0"/>
              </a:tabLst>
            </a:pPr>
            <a:r>
              <a:rPr b="0" lang="en-US" sz="2500" spc="58" strike="noStrike">
                <a:solidFill>
                  <a:srgbClr val="fafafa"/>
                </a:solidFill>
                <a:latin typeface="Sansation"/>
              </a:rPr>
              <a:t>Seamless connection with Big Data tools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682"/>
              </a:lnSpc>
              <a:tabLst>
                <a:tab algn="l" pos="0"/>
              </a:tabLst>
            </a:pPr>
            <a:r>
              <a:rPr b="0" lang="en-US" sz="2500" spc="58" strike="noStrike">
                <a:solidFill>
                  <a:srgbClr val="fafafa"/>
                </a:solidFill>
                <a:latin typeface="Sansation"/>
              </a:rPr>
              <a:t>like Apache Spark and Hadoop.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682"/>
              </a:lnSpc>
              <a:tabLst>
                <a:tab algn="l" pos="0"/>
              </a:tabLst>
            </a:pP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1828800" y="7315200"/>
            <a:ext cx="7084800" cy="14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682"/>
              </a:lnSpc>
              <a:tabLst>
                <a:tab algn="l" pos="0"/>
              </a:tabLst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</a:rPr>
              <a:t>A massive global community contributing to open-source projects.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7" dur="125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2" dur="125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3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7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Freeform 2"/>
          <p:cNvSpPr/>
          <p:nvPr/>
        </p:nvSpPr>
        <p:spPr>
          <a:xfrm>
            <a:off x="1028880" y="8872560"/>
            <a:ext cx="7313040" cy="769320"/>
          </a:xfrm>
          <a:custGeom>
            <a:avLst/>
            <a:gdLst>
              <a:gd name="textAreaLeft" fmla="*/ 0 w 7313040"/>
              <a:gd name="textAreaRight" fmla="*/ 731520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2"/>
                </a:lnTo>
                <a:lnTo>
                  <a:pt x="0" y="7714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Freeform 3"/>
          <p:cNvSpPr/>
          <p:nvPr/>
        </p:nvSpPr>
        <p:spPr>
          <a:xfrm flipH="1">
            <a:off x="10286280" y="228600"/>
            <a:ext cx="7313040" cy="769320"/>
          </a:xfrm>
          <a:custGeom>
            <a:avLst/>
            <a:gdLst>
              <a:gd name="textAreaLeft" fmla="*/ -1080 w 7313040"/>
              <a:gd name="textAreaRight" fmla="*/ 731412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2"/>
                </a:lnTo>
                <a:lnTo>
                  <a:pt x="7315200" y="771422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Freeform 4"/>
          <p:cNvSpPr/>
          <p:nvPr/>
        </p:nvSpPr>
        <p:spPr>
          <a:xfrm>
            <a:off x="15202080" y="801036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Freeform 5"/>
          <p:cNvSpPr/>
          <p:nvPr/>
        </p:nvSpPr>
        <p:spPr>
          <a:xfrm flipV="1">
            <a:off x="-2054880" y="-251604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360 h 4112640"/>
              <a:gd name="textAreaBottom" fmla="*/ 411516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Freeform 6"/>
          <p:cNvSpPr/>
          <p:nvPr/>
        </p:nvSpPr>
        <p:spPr>
          <a:xfrm rot="16200000">
            <a:off x="-1621080" y="54082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Freeform 7"/>
          <p:cNvSpPr/>
          <p:nvPr/>
        </p:nvSpPr>
        <p:spPr>
          <a:xfrm flipV="1" rot="16200000">
            <a:off x="14609520" y="41068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1080 h 769320"/>
              <a:gd name="textAreaBottom" fmla="*/ 77256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3" name=""/>
          <p:cNvGrpSpPr/>
          <p:nvPr/>
        </p:nvGrpSpPr>
        <p:grpSpPr>
          <a:xfrm>
            <a:off x="186120" y="1385280"/>
            <a:ext cx="18329040" cy="1356480"/>
            <a:chOff x="186120" y="1385280"/>
            <a:chExt cx="18329040" cy="1356480"/>
          </a:xfrm>
        </p:grpSpPr>
        <p:sp>
          <p:nvSpPr>
            <p:cNvPr id="94" name=""/>
            <p:cNvSpPr/>
            <p:nvPr/>
          </p:nvSpPr>
          <p:spPr>
            <a:xfrm>
              <a:off x="2991960" y="1499040"/>
              <a:ext cx="12915000" cy="1242720"/>
            </a:xfrm>
            <a:prstGeom prst="roundRect">
              <a:avLst>
                <a:gd name="adj" fmla="val 16667"/>
              </a:avLst>
            </a:prstGeom>
            <a:solidFill>
              <a:srgbClr val="4a148c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5" name="TextBox 9"/>
            <p:cNvSpPr/>
            <p:nvPr/>
          </p:nvSpPr>
          <p:spPr>
            <a:xfrm>
              <a:off x="186120" y="1385280"/>
              <a:ext cx="18329040" cy="112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8889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b="0" lang="en-US" sz="5400" spc="205" strike="noStrike">
                  <a:solidFill>
                    <a:srgbClr val="d9d9d9"/>
                  </a:solidFill>
                  <a:latin typeface="HK Modular"/>
                  <a:ea typeface="HK Modular"/>
                </a:rPr>
                <a:t>The Python Data Science Ecosystem</a:t>
              </a:r>
              <a:endParaRPr b="0" lang="en-US" sz="5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96" name="" descr=""/>
          <p:cNvPicPr/>
          <p:nvPr/>
        </p:nvPicPr>
        <p:blipFill>
          <a:blip r:embed="rId13"/>
          <a:stretch/>
        </p:blipFill>
        <p:spPr>
          <a:xfrm>
            <a:off x="2954160" y="4336920"/>
            <a:ext cx="3673800" cy="206244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286000" y="3200400"/>
            <a:ext cx="6170760" cy="912960"/>
          </a:xfrm>
          <a:prstGeom prst="rect">
            <a:avLst/>
          </a:prstGeom>
          <a:solidFill>
            <a:srgbClr val="311b92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ffffff"/>
                </a:solidFill>
                <a:latin typeface="DejaVu Sans"/>
              </a:rPr>
              <a:t>1. Data Manipulation &amp; Analysis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7086600" y="4343400"/>
            <a:ext cx="9557640" cy="22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ffffff"/>
                </a:solidFill>
                <a:latin typeface="Noto Serif Condensed Medium"/>
              </a:rPr>
              <a:t>library for scientific computing, providing high-performance N-dimensional array objects.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ffffff"/>
                </a:solidFill>
                <a:latin typeface="Noto Serif Condensed Medium"/>
              </a:rPr>
              <a:t>Enables complex mathematical operations on arrays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99" name=""/>
          <p:cNvGrpSpPr/>
          <p:nvPr/>
        </p:nvGrpSpPr>
        <p:grpSpPr>
          <a:xfrm>
            <a:off x="2971800" y="6672240"/>
            <a:ext cx="3656160" cy="2013120"/>
            <a:chOff x="2971800" y="6672240"/>
            <a:chExt cx="3656160" cy="2013120"/>
          </a:xfrm>
        </p:grpSpPr>
        <p:sp>
          <p:nvSpPr>
            <p:cNvPr id="100" name=""/>
            <p:cNvSpPr/>
            <p:nvPr/>
          </p:nvSpPr>
          <p:spPr>
            <a:xfrm>
              <a:off x="2971800" y="6672240"/>
              <a:ext cx="3656160" cy="2013120"/>
            </a:xfrm>
            <a:prstGeom prst="rect">
              <a:avLst/>
            </a:prstGeom>
            <a:solidFill>
              <a:srgbClr val="fafafa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01" name="" descr=""/>
            <p:cNvPicPr/>
            <p:nvPr/>
          </p:nvPicPr>
          <p:blipFill>
            <a:blip r:embed="rId14"/>
            <a:stretch/>
          </p:blipFill>
          <p:spPr>
            <a:xfrm>
              <a:off x="2971800" y="6977160"/>
              <a:ext cx="3656160" cy="14796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02" name=""/>
          <p:cNvSpPr/>
          <p:nvPr/>
        </p:nvSpPr>
        <p:spPr>
          <a:xfrm>
            <a:off x="6777000" y="6758280"/>
            <a:ext cx="10631160" cy="37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ffffff"/>
                </a:solidFill>
                <a:latin typeface="Arial"/>
              </a:rPr>
              <a:t>Provides </a:t>
            </a:r>
            <a:r>
              <a:rPr b="0" lang="en-US" sz="2600" spc="-1" strike="noStrike">
                <a:solidFill>
                  <a:srgbClr val="ffffff"/>
                </a:solidFill>
                <a:latin typeface="Noto Serif Condensed Medium"/>
              </a:rPr>
              <a:t>powerful</a:t>
            </a:r>
            <a:r>
              <a:rPr b="0" lang="en-US" sz="2600" spc="-1" strike="noStrike">
                <a:solidFill>
                  <a:srgbClr val="ffffff"/>
                </a:solidFill>
                <a:latin typeface="Arial"/>
              </a:rPr>
              <a:t> tools like DataFrames and Series for structured data manipulation and analysis.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ffffff"/>
                </a:solidFill>
                <a:latin typeface="Arial"/>
              </a:rPr>
              <a:t>Offers extensive functions for cleaning, merging, and reshaping datasets, making it the industry standard for ETL tasks.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" dur="indefinite" restart="never" nodeType="tmRoot">
          <p:childTnLst>
            <p:seq>
              <p:cTn id="39" dur="indefinite" nodeType="mainSeq">
                <p:childTnLst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44" dur="125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4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56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61" dur="5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66" dur="500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7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76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85" dur="5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reeform 1"/>
          <p:cNvSpPr/>
          <p:nvPr/>
        </p:nvSpPr>
        <p:spPr>
          <a:xfrm>
            <a:off x="1028880" y="8872560"/>
            <a:ext cx="7313040" cy="769320"/>
          </a:xfrm>
          <a:custGeom>
            <a:avLst/>
            <a:gdLst>
              <a:gd name="textAreaLeft" fmla="*/ 0 w 7313040"/>
              <a:gd name="textAreaRight" fmla="*/ 731520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2"/>
                </a:lnTo>
                <a:lnTo>
                  <a:pt x="0" y="7714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Freeform 8"/>
          <p:cNvSpPr/>
          <p:nvPr/>
        </p:nvSpPr>
        <p:spPr>
          <a:xfrm flipH="1">
            <a:off x="10286280" y="228600"/>
            <a:ext cx="7313040" cy="769320"/>
          </a:xfrm>
          <a:custGeom>
            <a:avLst/>
            <a:gdLst>
              <a:gd name="textAreaLeft" fmla="*/ -1080 w 7313040"/>
              <a:gd name="textAreaRight" fmla="*/ 731412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2"/>
                </a:lnTo>
                <a:lnTo>
                  <a:pt x="7315200" y="771422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Freeform 11"/>
          <p:cNvSpPr/>
          <p:nvPr/>
        </p:nvSpPr>
        <p:spPr>
          <a:xfrm>
            <a:off x="15202080" y="801036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Freeform 15"/>
          <p:cNvSpPr/>
          <p:nvPr/>
        </p:nvSpPr>
        <p:spPr>
          <a:xfrm flipV="1">
            <a:off x="-2054880" y="-251604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360 h 4112640"/>
              <a:gd name="textAreaBottom" fmla="*/ 411516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Freeform 17"/>
          <p:cNvSpPr/>
          <p:nvPr/>
        </p:nvSpPr>
        <p:spPr>
          <a:xfrm rot="16200000">
            <a:off x="-1621080" y="54082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Freeform 18"/>
          <p:cNvSpPr/>
          <p:nvPr/>
        </p:nvSpPr>
        <p:spPr>
          <a:xfrm flipV="1" rot="16200000">
            <a:off x="14609520" y="41068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1080 h 769320"/>
              <a:gd name="textAreaBottom" fmla="*/ 77256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9" name=""/>
          <p:cNvGrpSpPr/>
          <p:nvPr/>
        </p:nvGrpSpPr>
        <p:grpSpPr>
          <a:xfrm>
            <a:off x="186120" y="1385280"/>
            <a:ext cx="18329040" cy="1356480"/>
            <a:chOff x="186120" y="1385280"/>
            <a:chExt cx="18329040" cy="1356480"/>
          </a:xfrm>
        </p:grpSpPr>
        <p:sp>
          <p:nvSpPr>
            <p:cNvPr id="110" name=""/>
            <p:cNvSpPr/>
            <p:nvPr/>
          </p:nvSpPr>
          <p:spPr>
            <a:xfrm>
              <a:off x="2991960" y="1499040"/>
              <a:ext cx="12915000" cy="1242720"/>
            </a:xfrm>
            <a:prstGeom prst="roundRect">
              <a:avLst>
                <a:gd name="adj" fmla="val 16667"/>
              </a:avLst>
            </a:prstGeom>
            <a:solidFill>
              <a:srgbClr val="4a148c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1" name="TextBox 9"/>
            <p:cNvSpPr/>
            <p:nvPr/>
          </p:nvSpPr>
          <p:spPr>
            <a:xfrm>
              <a:off x="186120" y="1385280"/>
              <a:ext cx="18329040" cy="112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8889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b="0" lang="en-US" sz="5400" spc="205" strike="noStrike">
                  <a:solidFill>
                    <a:srgbClr val="d9d9d9"/>
                  </a:solidFill>
                  <a:latin typeface="HK Modular"/>
                  <a:ea typeface="HK Modular"/>
                </a:rPr>
                <a:t>The Python Data Science Ecosystem</a:t>
              </a:r>
              <a:endParaRPr b="0" lang="en-US" sz="5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2" name=""/>
          <p:cNvSpPr/>
          <p:nvPr/>
        </p:nvSpPr>
        <p:spPr>
          <a:xfrm>
            <a:off x="2286000" y="3200400"/>
            <a:ext cx="6170760" cy="912960"/>
          </a:xfrm>
          <a:prstGeom prst="rect">
            <a:avLst/>
          </a:prstGeom>
          <a:solidFill>
            <a:srgbClr val="311b92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ffffff"/>
                </a:solidFill>
                <a:latin typeface="DejaVu Sans"/>
              </a:rPr>
              <a:t>2. Data Visualization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7086600" y="4343400"/>
            <a:ext cx="9557640" cy="22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600" spc="-1" strike="noStrike">
                <a:solidFill>
                  <a:srgbClr val="ffffff"/>
                </a:solidFill>
                <a:latin typeface="Noto Serif Condensed Medium"/>
              </a:rPr>
              <a:t>Matplotlib serves as the foundation for creating static, interactive, and animated 2D visualizations.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7005600" y="6858000"/>
            <a:ext cx="10631160" cy="15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ffffff"/>
                </a:solidFill>
                <a:latin typeface="Noto Serif Condensed Medium"/>
              </a:rPr>
              <a:t>Seaborn is built on top of Matplotlib, providing a high-level interface for drawing attractive and informative statistical plots.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3"/>
          <a:stretch/>
        </p:blipFill>
        <p:spPr>
          <a:xfrm>
            <a:off x="2743200" y="4726800"/>
            <a:ext cx="3808080" cy="986760"/>
          </a:xfrm>
          <a:prstGeom prst="rect">
            <a:avLst/>
          </a:prstGeom>
          <a:ln w="0">
            <a:noFill/>
          </a:ln>
        </p:spPr>
      </p:pic>
      <p:pic>
        <p:nvPicPr>
          <p:cNvPr id="116" name="" descr=""/>
          <p:cNvPicPr/>
          <p:nvPr/>
        </p:nvPicPr>
        <p:blipFill>
          <a:blip r:embed="rId14"/>
          <a:stretch/>
        </p:blipFill>
        <p:spPr>
          <a:xfrm>
            <a:off x="2743200" y="7210440"/>
            <a:ext cx="3965760" cy="1017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6" dur="indefinite" restart="never" nodeType="tmRoot">
          <p:childTnLst>
            <p:seq>
              <p:cTn id="87" dur="indefinite" nodeType="mainSeq"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92" dur="12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7" dur="2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0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07" dur="500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1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17" dur="500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19"/>
          <p:cNvSpPr/>
          <p:nvPr/>
        </p:nvSpPr>
        <p:spPr>
          <a:xfrm>
            <a:off x="1028880" y="8872560"/>
            <a:ext cx="7313040" cy="769320"/>
          </a:xfrm>
          <a:custGeom>
            <a:avLst/>
            <a:gdLst>
              <a:gd name="textAreaLeft" fmla="*/ 0 w 7313040"/>
              <a:gd name="textAreaRight" fmla="*/ 731520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2"/>
                </a:lnTo>
                <a:lnTo>
                  <a:pt x="0" y="7714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Freeform 21"/>
          <p:cNvSpPr/>
          <p:nvPr/>
        </p:nvSpPr>
        <p:spPr>
          <a:xfrm flipH="1">
            <a:off x="10286280" y="228600"/>
            <a:ext cx="7313040" cy="769320"/>
          </a:xfrm>
          <a:custGeom>
            <a:avLst/>
            <a:gdLst>
              <a:gd name="textAreaLeft" fmla="*/ -1080 w 7313040"/>
              <a:gd name="textAreaRight" fmla="*/ 731412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2"/>
                </a:lnTo>
                <a:lnTo>
                  <a:pt x="7315200" y="771422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Freeform 22"/>
          <p:cNvSpPr/>
          <p:nvPr/>
        </p:nvSpPr>
        <p:spPr>
          <a:xfrm>
            <a:off x="15202080" y="801036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Freeform 23"/>
          <p:cNvSpPr/>
          <p:nvPr/>
        </p:nvSpPr>
        <p:spPr>
          <a:xfrm flipV="1">
            <a:off x="-2054880" y="-251604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360 h 4112640"/>
              <a:gd name="textAreaBottom" fmla="*/ 411516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Freeform 24"/>
          <p:cNvSpPr/>
          <p:nvPr/>
        </p:nvSpPr>
        <p:spPr>
          <a:xfrm rot="16200000">
            <a:off x="-1621080" y="54082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Freeform 25"/>
          <p:cNvSpPr/>
          <p:nvPr/>
        </p:nvSpPr>
        <p:spPr>
          <a:xfrm flipV="1" rot="16200000">
            <a:off x="14609520" y="41068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1080 h 769320"/>
              <a:gd name="textAreaBottom" fmla="*/ 77256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3" name=""/>
          <p:cNvGrpSpPr/>
          <p:nvPr/>
        </p:nvGrpSpPr>
        <p:grpSpPr>
          <a:xfrm>
            <a:off x="186120" y="1385280"/>
            <a:ext cx="18329040" cy="1356480"/>
            <a:chOff x="186120" y="1385280"/>
            <a:chExt cx="18329040" cy="1356480"/>
          </a:xfrm>
        </p:grpSpPr>
        <p:sp>
          <p:nvSpPr>
            <p:cNvPr id="124" name=""/>
            <p:cNvSpPr/>
            <p:nvPr/>
          </p:nvSpPr>
          <p:spPr>
            <a:xfrm>
              <a:off x="2991960" y="1499040"/>
              <a:ext cx="12915000" cy="1242720"/>
            </a:xfrm>
            <a:prstGeom prst="roundRect">
              <a:avLst>
                <a:gd name="adj" fmla="val 16667"/>
              </a:avLst>
            </a:prstGeom>
            <a:solidFill>
              <a:srgbClr val="4a148c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5" name="TextBox 9"/>
            <p:cNvSpPr/>
            <p:nvPr/>
          </p:nvSpPr>
          <p:spPr>
            <a:xfrm>
              <a:off x="186120" y="1385280"/>
              <a:ext cx="18329040" cy="112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8889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b="0" lang="en-US" sz="5400" spc="205" strike="noStrike">
                  <a:solidFill>
                    <a:srgbClr val="d9d9d9"/>
                  </a:solidFill>
                  <a:latin typeface="HK Modular"/>
                  <a:ea typeface="HK Modular"/>
                </a:rPr>
                <a:t>The Python Data Science Ecosystem</a:t>
              </a:r>
              <a:endParaRPr b="0" lang="en-US" sz="5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6" name=""/>
          <p:cNvSpPr/>
          <p:nvPr/>
        </p:nvSpPr>
        <p:spPr>
          <a:xfrm>
            <a:off x="2286000" y="3200400"/>
            <a:ext cx="6170760" cy="912960"/>
          </a:xfrm>
          <a:prstGeom prst="rect">
            <a:avLst/>
          </a:prstGeom>
          <a:solidFill>
            <a:srgbClr val="311b92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800" spc="-1" strike="noStrike">
                <a:solidFill>
                  <a:srgbClr val="ffffff"/>
                </a:solidFill>
                <a:latin typeface="DejaVu Sans"/>
              </a:rPr>
              <a:t>3. Data Acquisition 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7086600" y="4343400"/>
            <a:ext cx="9557640" cy="22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600" spc="-1" strike="noStrike">
                <a:solidFill>
                  <a:srgbClr val="ffffff"/>
                </a:solidFill>
                <a:latin typeface="Noto Serif Condensed Medium"/>
              </a:rPr>
              <a:t>BeautifulSoup is designed for pulling data out of HTML and XML files by creating a navigable parse tree.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7005600" y="6858000"/>
            <a:ext cx="10631160" cy="15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ffffff"/>
                </a:solidFill>
                <a:latin typeface="Noto Serif Condensed Medium"/>
              </a:rPr>
              <a:t>The Requests library simplifies the process of sending HTTP requests to servers to retrieve the raw web content.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29" name=""/>
          <p:cNvGrpSpPr/>
          <p:nvPr/>
        </p:nvGrpSpPr>
        <p:grpSpPr>
          <a:xfrm>
            <a:off x="3429000" y="6400800"/>
            <a:ext cx="2284920" cy="2056320"/>
            <a:chOff x="3429000" y="6400800"/>
            <a:chExt cx="2284920" cy="2056320"/>
          </a:xfrm>
        </p:grpSpPr>
        <p:sp>
          <p:nvSpPr>
            <p:cNvPr id="130" name=""/>
            <p:cNvSpPr/>
            <p:nvPr/>
          </p:nvSpPr>
          <p:spPr>
            <a:xfrm>
              <a:off x="3429000" y="6400800"/>
              <a:ext cx="2284920" cy="2056320"/>
            </a:xfrm>
            <a:prstGeom prst="rect">
              <a:avLst/>
            </a:prstGeom>
            <a:solidFill>
              <a:srgbClr val="fafafa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31" name="" descr=""/>
            <p:cNvPicPr/>
            <p:nvPr/>
          </p:nvPicPr>
          <p:blipFill>
            <a:blip r:embed="rId13"/>
            <a:stretch/>
          </p:blipFill>
          <p:spPr>
            <a:xfrm>
              <a:off x="3429000" y="6400800"/>
              <a:ext cx="2132280" cy="190368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132" name="" descr=""/>
          <p:cNvPicPr/>
          <p:nvPr/>
        </p:nvPicPr>
        <p:blipFill>
          <a:blip r:embed="rId14"/>
          <a:stretch/>
        </p:blipFill>
        <p:spPr>
          <a:xfrm>
            <a:off x="2767320" y="4242240"/>
            <a:ext cx="3719160" cy="159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8" dur="indefinite" restart="never" nodeType="tmRoot">
          <p:childTnLst>
            <p:seq>
              <p:cTn id="119" dur="indefinite" nodeType="mainSeq"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24" dur="125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9" dur="2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38" dur="500"/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47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reeform 26"/>
          <p:cNvSpPr/>
          <p:nvPr/>
        </p:nvSpPr>
        <p:spPr>
          <a:xfrm>
            <a:off x="1028880" y="8872560"/>
            <a:ext cx="7313040" cy="769320"/>
          </a:xfrm>
          <a:custGeom>
            <a:avLst/>
            <a:gdLst>
              <a:gd name="textAreaLeft" fmla="*/ 0 w 7313040"/>
              <a:gd name="textAreaRight" fmla="*/ 731520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2"/>
                </a:lnTo>
                <a:lnTo>
                  <a:pt x="0" y="7714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Freeform 27"/>
          <p:cNvSpPr/>
          <p:nvPr/>
        </p:nvSpPr>
        <p:spPr>
          <a:xfrm flipH="1">
            <a:off x="10286280" y="228600"/>
            <a:ext cx="7313040" cy="769320"/>
          </a:xfrm>
          <a:custGeom>
            <a:avLst/>
            <a:gdLst>
              <a:gd name="textAreaLeft" fmla="*/ -1080 w 7313040"/>
              <a:gd name="textAreaRight" fmla="*/ 731412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2"/>
                </a:lnTo>
                <a:lnTo>
                  <a:pt x="7315200" y="771422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Freeform 28"/>
          <p:cNvSpPr/>
          <p:nvPr/>
        </p:nvSpPr>
        <p:spPr>
          <a:xfrm>
            <a:off x="15202080" y="801036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Freeform 29"/>
          <p:cNvSpPr/>
          <p:nvPr/>
        </p:nvSpPr>
        <p:spPr>
          <a:xfrm flipV="1">
            <a:off x="-2054880" y="-251604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360 h 4112640"/>
              <a:gd name="textAreaBottom" fmla="*/ 411516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Freeform 30"/>
          <p:cNvSpPr/>
          <p:nvPr/>
        </p:nvSpPr>
        <p:spPr>
          <a:xfrm rot="16200000">
            <a:off x="-1621080" y="54082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Freeform 31"/>
          <p:cNvSpPr/>
          <p:nvPr/>
        </p:nvSpPr>
        <p:spPr>
          <a:xfrm flipV="1" rot="16200000">
            <a:off x="14609520" y="41068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1080 h 769320"/>
              <a:gd name="textAreaBottom" fmla="*/ 77256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9" name=""/>
          <p:cNvGrpSpPr/>
          <p:nvPr/>
        </p:nvGrpSpPr>
        <p:grpSpPr>
          <a:xfrm>
            <a:off x="186120" y="1385280"/>
            <a:ext cx="18329040" cy="1356480"/>
            <a:chOff x="186120" y="1385280"/>
            <a:chExt cx="18329040" cy="1356480"/>
          </a:xfrm>
        </p:grpSpPr>
        <p:sp>
          <p:nvSpPr>
            <p:cNvPr id="140" name=""/>
            <p:cNvSpPr/>
            <p:nvPr/>
          </p:nvSpPr>
          <p:spPr>
            <a:xfrm>
              <a:off x="2991960" y="1499040"/>
              <a:ext cx="12915000" cy="1242720"/>
            </a:xfrm>
            <a:prstGeom prst="roundRect">
              <a:avLst>
                <a:gd name="adj" fmla="val 16667"/>
              </a:avLst>
            </a:prstGeom>
            <a:solidFill>
              <a:srgbClr val="4a148c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" name="TextBox 9"/>
            <p:cNvSpPr/>
            <p:nvPr/>
          </p:nvSpPr>
          <p:spPr>
            <a:xfrm>
              <a:off x="186120" y="1385280"/>
              <a:ext cx="18329040" cy="112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8889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b="0" lang="en-US" sz="5400" spc="205" strike="noStrike">
                  <a:solidFill>
                    <a:srgbClr val="d9d9d9"/>
                  </a:solidFill>
                  <a:latin typeface="HK Modular"/>
                  <a:ea typeface="HK Modular"/>
                </a:rPr>
                <a:t>The Python Data Science Ecosystem</a:t>
              </a:r>
              <a:endParaRPr b="0" lang="en-US" sz="5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42" name=""/>
          <p:cNvSpPr/>
          <p:nvPr/>
        </p:nvSpPr>
        <p:spPr>
          <a:xfrm>
            <a:off x="2286000" y="3200400"/>
            <a:ext cx="6170760" cy="912960"/>
          </a:xfrm>
          <a:prstGeom prst="rect">
            <a:avLst/>
          </a:prstGeom>
          <a:solidFill>
            <a:srgbClr val="311b92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800" spc="-1" strike="noStrike">
                <a:solidFill>
                  <a:srgbClr val="ffffff"/>
                </a:solidFill>
                <a:latin typeface="DejaVu Sans"/>
              </a:rPr>
              <a:t>3. Data Acquisition 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6242400" y="4800960"/>
            <a:ext cx="10631160" cy="15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500" spc="-1" strike="noStrike">
                <a:solidFill>
                  <a:srgbClr val="ffffff"/>
                </a:solidFill>
                <a:latin typeface="Noto Serif Condensed Medium"/>
              </a:rPr>
              <a:t>Browser Automation:</a:t>
            </a:r>
            <a:r>
              <a:rPr b="0" lang="en-US" sz="2500" spc="-1" strike="noStrike">
                <a:solidFill>
                  <a:srgbClr val="ffffff"/>
                </a:solidFill>
                <a:latin typeface="Noto Serif Condensed Medium"/>
              </a:rPr>
              <a:t> 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500" spc="-1" strike="noStrike">
                <a:solidFill>
                  <a:srgbClr val="ffffff"/>
                </a:solidFill>
                <a:latin typeface="Noto Serif Condensed Medium"/>
              </a:rPr>
              <a:t>Primarily used for automating web browsers to interact with dynamic content rendered via JavaScript.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500" spc="-1" strike="noStrike">
                <a:solidFill>
                  <a:srgbClr val="ffffff"/>
                </a:solidFill>
                <a:latin typeface="Noto Serif Condensed Medium"/>
              </a:rPr>
              <a:t>Human Simulation: 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500" spc="-1" strike="noStrike">
                <a:solidFill>
                  <a:srgbClr val="ffffff"/>
                </a:solidFill>
                <a:latin typeface="Noto Serif Condensed Medium"/>
              </a:rPr>
              <a:t>Allows scripts to mimic human actions like clicking buttons or scrolling, which is essential for scraping modern web applications.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13"/>
          <a:stretch/>
        </p:blipFill>
        <p:spPr>
          <a:xfrm>
            <a:off x="2057400" y="5246280"/>
            <a:ext cx="3990240" cy="206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8" dur="indefinite" restart="never" nodeType="tmRoot">
          <p:childTnLst>
            <p:seq>
              <p:cTn id="149" dur="indefinite" nodeType="mainSeq">
                <p:childTnLst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54" dur="125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9" dur="25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Freeform 32"/>
          <p:cNvSpPr/>
          <p:nvPr/>
        </p:nvSpPr>
        <p:spPr>
          <a:xfrm>
            <a:off x="1028880" y="8872560"/>
            <a:ext cx="7313040" cy="769320"/>
          </a:xfrm>
          <a:custGeom>
            <a:avLst/>
            <a:gdLst>
              <a:gd name="textAreaLeft" fmla="*/ 0 w 7313040"/>
              <a:gd name="textAreaRight" fmla="*/ 731520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2"/>
                </a:lnTo>
                <a:lnTo>
                  <a:pt x="0" y="7714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Freeform 33"/>
          <p:cNvSpPr/>
          <p:nvPr/>
        </p:nvSpPr>
        <p:spPr>
          <a:xfrm flipH="1">
            <a:off x="10286280" y="228600"/>
            <a:ext cx="7313040" cy="769320"/>
          </a:xfrm>
          <a:custGeom>
            <a:avLst/>
            <a:gdLst>
              <a:gd name="textAreaLeft" fmla="*/ -1080 w 7313040"/>
              <a:gd name="textAreaRight" fmla="*/ 731412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2"/>
                </a:lnTo>
                <a:lnTo>
                  <a:pt x="7315200" y="771422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Freeform 34"/>
          <p:cNvSpPr/>
          <p:nvPr/>
        </p:nvSpPr>
        <p:spPr>
          <a:xfrm>
            <a:off x="15202080" y="801036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Freeform 35"/>
          <p:cNvSpPr/>
          <p:nvPr/>
        </p:nvSpPr>
        <p:spPr>
          <a:xfrm flipV="1">
            <a:off x="-2054880" y="-251604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360 h 4112640"/>
              <a:gd name="textAreaBottom" fmla="*/ 411516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Freeform 36"/>
          <p:cNvSpPr/>
          <p:nvPr/>
        </p:nvSpPr>
        <p:spPr>
          <a:xfrm rot="16200000">
            <a:off x="-1621080" y="54082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Freeform 37"/>
          <p:cNvSpPr/>
          <p:nvPr/>
        </p:nvSpPr>
        <p:spPr>
          <a:xfrm flipV="1" rot="16200000">
            <a:off x="14609520" y="41068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1080 h 769320"/>
              <a:gd name="textAreaBottom" fmla="*/ 77256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1" name=""/>
          <p:cNvGrpSpPr/>
          <p:nvPr/>
        </p:nvGrpSpPr>
        <p:grpSpPr>
          <a:xfrm>
            <a:off x="186120" y="1385280"/>
            <a:ext cx="18329040" cy="1356480"/>
            <a:chOff x="186120" y="1385280"/>
            <a:chExt cx="18329040" cy="1356480"/>
          </a:xfrm>
        </p:grpSpPr>
        <p:sp>
          <p:nvSpPr>
            <p:cNvPr id="152" name=""/>
            <p:cNvSpPr/>
            <p:nvPr/>
          </p:nvSpPr>
          <p:spPr>
            <a:xfrm>
              <a:off x="2991960" y="1499040"/>
              <a:ext cx="12915000" cy="1242720"/>
            </a:xfrm>
            <a:prstGeom prst="roundRect">
              <a:avLst>
                <a:gd name="adj" fmla="val 16667"/>
              </a:avLst>
            </a:prstGeom>
            <a:solidFill>
              <a:srgbClr val="4a148c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" name="TextBox 9"/>
            <p:cNvSpPr/>
            <p:nvPr/>
          </p:nvSpPr>
          <p:spPr>
            <a:xfrm>
              <a:off x="186120" y="1385280"/>
              <a:ext cx="18329040" cy="112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8889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b="0" lang="en-US" sz="5400" spc="205" strike="noStrike">
                  <a:solidFill>
                    <a:srgbClr val="d9d9d9"/>
                  </a:solidFill>
                  <a:latin typeface="HK Modular"/>
                  <a:ea typeface="HK Modular"/>
                </a:rPr>
                <a:t>The Python Data Science Ecosystem</a:t>
              </a:r>
              <a:endParaRPr b="0" lang="en-US" sz="5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54" name=""/>
          <p:cNvSpPr/>
          <p:nvPr/>
        </p:nvSpPr>
        <p:spPr>
          <a:xfrm>
            <a:off x="2286000" y="3200400"/>
            <a:ext cx="6170760" cy="912960"/>
          </a:xfrm>
          <a:prstGeom prst="rect">
            <a:avLst/>
          </a:prstGeom>
          <a:solidFill>
            <a:srgbClr val="311b92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800" spc="-1" strike="noStrike">
                <a:solidFill>
                  <a:srgbClr val="ffffff"/>
                </a:solidFill>
                <a:latin typeface="DejaVu Sans"/>
              </a:rPr>
              <a:t>4. Scientific Computing &amp; ML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7086600" y="4343400"/>
            <a:ext cx="9557640" cy="22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600" spc="-1" strike="noStrike">
                <a:solidFill>
                  <a:srgbClr val="ffffff"/>
                </a:solidFill>
                <a:latin typeface="Noto Serif Condensed Medium"/>
              </a:rPr>
              <a:t>Built on top of NumPy to provide a large collection of mathematical algorithms for integration, optimization, and signal processing.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6629400" y="6400800"/>
            <a:ext cx="10631160" cy="15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ffffff"/>
                </a:solidFill>
                <a:latin typeface="Noto Serif Condensed Medium"/>
              </a:rPr>
              <a:t>The most robust and popular library for classical Machine Learning, featuring tools for classification, regression, and clustering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ffffff"/>
                </a:solidFill>
                <a:latin typeface="Noto Serif Condensed Medium"/>
              </a:rPr>
              <a:t>Built on NumPy, SciPy, and Matplotlib, it provides a consistent and efficient API for data mining and predictive data analysis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7" name="" descr=""/>
          <p:cNvPicPr/>
          <p:nvPr/>
        </p:nvPicPr>
        <p:blipFill>
          <a:blip r:embed="rId13"/>
          <a:stretch/>
        </p:blipFill>
        <p:spPr>
          <a:xfrm>
            <a:off x="3557160" y="4343400"/>
            <a:ext cx="1928160" cy="1928160"/>
          </a:xfrm>
          <a:prstGeom prst="rect">
            <a:avLst/>
          </a:prstGeom>
          <a:ln w="0">
            <a:noFill/>
          </a:ln>
        </p:spPr>
      </p:pic>
      <p:pic>
        <p:nvPicPr>
          <p:cNvPr id="158" name="" descr=""/>
          <p:cNvPicPr/>
          <p:nvPr/>
        </p:nvPicPr>
        <p:blipFill>
          <a:blip r:embed="rId14"/>
          <a:stretch/>
        </p:blipFill>
        <p:spPr>
          <a:xfrm>
            <a:off x="3572280" y="6629400"/>
            <a:ext cx="1913040" cy="1913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4" dur="indefinite" restart="never" nodeType="tmRoot">
          <p:childTnLst>
            <p:seq>
              <p:cTn id="175" dur="indefinite" nodeType="mainSeq">
                <p:childTnLst>
                  <p:par>
                    <p:cTn id="176" fill="hold">
                      <p:stCondLst>
                        <p:cond delay="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80" dur="125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5" dur="25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94" dur="500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03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"/>
          <p:cNvGrpSpPr/>
          <p:nvPr/>
        </p:nvGrpSpPr>
        <p:grpSpPr>
          <a:xfrm>
            <a:off x="1828800" y="783000"/>
            <a:ext cx="9600120" cy="1023840"/>
            <a:chOff x="1828800" y="783000"/>
            <a:chExt cx="9600120" cy="1023840"/>
          </a:xfrm>
        </p:grpSpPr>
        <p:sp>
          <p:nvSpPr>
            <p:cNvPr id="160" name=""/>
            <p:cNvSpPr/>
            <p:nvPr/>
          </p:nvSpPr>
          <p:spPr>
            <a:xfrm>
              <a:off x="1828800" y="783000"/>
              <a:ext cx="9600120" cy="913320"/>
            </a:xfrm>
            <a:prstGeom prst="roundRect">
              <a:avLst>
                <a:gd name="adj" fmla="val 16667"/>
              </a:avLst>
            </a:prstGeom>
            <a:solidFill>
              <a:srgbClr val="bf360c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" name=""/>
            <p:cNvSpPr/>
            <p:nvPr/>
          </p:nvSpPr>
          <p:spPr>
            <a:xfrm>
              <a:off x="1828800" y="783000"/>
              <a:ext cx="9142920" cy="102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4800" spc="205" strike="noStrike">
                  <a:solidFill>
                    <a:srgbClr val="fafafa"/>
                  </a:solidFill>
                  <a:latin typeface="HK Modular"/>
                  <a:ea typeface="HK Modular"/>
                </a:rPr>
                <a:t>The Interactive Environment</a:t>
              </a:r>
              <a:endParaRPr b="0" lang="en-US" sz="4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62" name="Freeform 2"/>
          <p:cNvSpPr/>
          <p:nvPr/>
        </p:nvSpPr>
        <p:spPr>
          <a:xfrm>
            <a:off x="1028880" y="8872560"/>
            <a:ext cx="7313040" cy="769320"/>
          </a:xfrm>
          <a:custGeom>
            <a:avLst/>
            <a:gdLst>
              <a:gd name="textAreaLeft" fmla="*/ 0 w 7313040"/>
              <a:gd name="textAreaRight" fmla="*/ 731520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2"/>
                </a:lnTo>
                <a:lnTo>
                  <a:pt x="0" y="7714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Freeform 3"/>
          <p:cNvSpPr/>
          <p:nvPr/>
        </p:nvSpPr>
        <p:spPr>
          <a:xfrm flipH="1">
            <a:off x="10971720" y="228600"/>
            <a:ext cx="7313040" cy="769320"/>
          </a:xfrm>
          <a:custGeom>
            <a:avLst/>
            <a:gdLst>
              <a:gd name="textAreaLeft" fmla="*/ -1080 w 7313040"/>
              <a:gd name="textAreaRight" fmla="*/ 731412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2"/>
                </a:lnTo>
                <a:lnTo>
                  <a:pt x="7315200" y="771422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Freeform 4"/>
          <p:cNvSpPr/>
          <p:nvPr/>
        </p:nvSpPr>
        <p:spPr>
          <a:xfrm>
            <a:off x="16230600" y="868788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Freeform 5"/>
          <p:cNvSpPr/>
          <p:nvPr/>
        </p:nvSpPr>
        <p:spPr>
          <a:xfrm flipV="1">
            <a:off x="-2054880" y="-228708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360 h 4112640"/>
              <a:gd name="textAreaBottom" fmla="*/ 411516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Freeform 6"/>
          <p:cNvSpPr/>
          <p:nvPr/>
        </p:nvSpPr>
        <p:spPr>
          <a:xfrm rot="16200000">
            <a:off x="-1621080" y="54082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Freeform 7"/>
          <p:cNvSpPr/>
          <p:nvPr/>
        </p:nvSpPr>
        <p:spPr>
          <a:xfrm flipV="1" rot="16200000">
            <a:off x="14933520" y="41068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1080 h 769320"/>
              <a:gd name="textAreaBottom" fmla="*/ 77256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11"/>
          <p:cNvSpPr/>
          <p:nvPr/>
        </p:nvSpPr>
        <p:spPr>
          <a:xfrm>
            <a:off x="2514600" y="4040640"/>
            <a:ext cx="61711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031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3000" spc="83" strike="noStrike">
                <a:solidFill>
                  <a:srgbClr val="fafafa"/>
                </a:solidFill>
                <a:latin typeface="Sansation"/>
                <a:ea typeface="Sansation"/>
              </a:rPr>
              <a:t>What is IPython? (The Engine)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69" name="Group 12"/>
          <p:cNvGrpSpPr/>
          <p:nvPr/>
        </p:nvGrpSpPr>
        <p:grpSpPr>
          <a:xfrm>
            <a:off x="1600200" y="4161240"/>
            <a:ext cx="392400" cy="392400"/>
            <a:chOff x="1600200" y="4161240"/>
            <a:chExt cx="392400" cy="392400"/>
          </a:xfrm>
        </p:grpSpPr>
        <p:sp>
          <p:nvSpPr>
            <p:cNvPr id="170" name="Freeform 13"/>
            <p:cNvSpPr/>
            <p:nvPr/>
          </p:nvSpPr>
          <p:spPr>
            <a:xfrm>
              <a:off x="1600200" y="4161240"/>
              <a:ext cx="392400" cy="392400"/>
            </a:xfrm>
            <a:custGeom>
              <a:avLst/>
              <a:gdLst>
                <a:gd name="textAreaLeft" fmla="*/ 0 w 392400"/>
                <a:gd name="textAreaRight" fmla="*/ 394560 w 392400"/>
                <a:gd name="textAreaTop" fmla="*/ 0 h 392400"/>
                <a:gd name="textAreaBottom" fmla="*/ 394560 h 39240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" name="TextBox 14"/>
            <p:cNvSpPr/>
            <p:nvPr/>
          </p:nvSpPr>
          <p:spPr>
            <a:xfrm>
              <a:off x="1637280" y="4179600"/>
              <a:ext cx="318600" cy="33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72" name="TextBox 15"/>
          <p:cNvSpPr/>
          <p:nvPr/>
        </p:nvSpPr>
        <p:spPr>
          <a:xfrm>
            <a:off x="1828800" y="4800600"/>
            <a:ext cx="6856920" cy="25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031"/>
              </a:lnSpc>
              <a:tabLst>
                <a:tab algn="l" pos="0"/>
              </a:tabLst>
            </a:pPr>
            <a:r>
              <a:rPr b="0" lang="en-US" sz="2600" spc="83" strike="noStrike">
                <a:solidFill>
                  <a:srgbClr val="fafafa"/>
                </a:solidFill>
                <a:latin typeface="Noto Serif Condensed Medium"/>
                <a:ea typeface="Sansation"/>
              </a:rPr>
              <a:t>IPython (Interactive Python)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5031"/>
              </a:lnSpc>
              <a:tabLst>
                <a:tab algn="l" pos="0"/>
              </a:tabLst>
            </a:pPr>
            <a:r>
              <a:rPr b="0" lang="en-US" sz="2600" spc="83" strike="noStrike">
                <a:solidFill>
                  <a:srgbClr val="fafafa"/>
                </a:solidFill>
                <a:latin typeface="Noto Serif Condensed Medium"/>
                <a:ea typeface="Sansation"/>
              </a:rPr>
              <a:t>is an advanced command-shell and a kernel for Jupyter that provides a powerful interface for interactive computing.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73" name=""/>
          <p:cNvGrpSpPr/>
          <p:nvPr/>
        </p:nvGrpSpPr>
        <p:grpSpPr>
          <a:xfrm>
            <a:off x="3886200" y="2017080"/>
            <a:ext cx="2284920" cy="1868040"/>
            <a:chOff x="3886200" y="2017080"/>
            <a:chExt cx="2284920" cy="1868040"/>
          </a:xfrm>
        </p:grpSpPr>
        <p:sp>
          <p:nvSpPr>
            <p:cNvPr id="174" name=""/>
            <p:cNvSpPr/>
            <p:nvPr/>
          </p:nvSpPr>
          <p:spPr>
            <a:xfrm>
              <a:off x="3886200" y="2057400"/>
              <a:ext cx="2284920" cy="1827720"/>
            </a:xfrm>
            <a:prstGeom prst="rect">
              <a:avLst/>
            </a:prstGeom>
            <a:solidFill>
              <a:srgbClr val="fafafa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75" name="" descr=""/>
            <p:cNvPicPr/>
            <p:nvPr/>
          </p:nvPicPr>
          <p:blipFill>
            <a:blip r:embed="rId13"/>
            <a:stretch/>
          </p:blipFill>
          <p:spPr>
            <a:xfrm>
              <a:off x="4074480" y="2017080"/>
              <a:ext cx="1868040" cy="18680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76" name=""/>
          <p:cNvGrpSpPr/>
          <p:nvPr/>
        </p:nvGrpSpPr>
        <p:grpSpPr>
          <a:xfrm>
            <a:off x="12478320" y="1852200"/>
            <a:ext cx="2056320" cy="2056320"/>
            <a:chOff x="12478320" y="1852200"/>
            <a:chExt cx="2056320" cy="2056320"/>
          </a:xfrm>
        </p:grpSpPr>
        <p:sp>
          <p:nvSpPr>
            <p:cNvPr id="177" name=""/>
            <p:cNvSpPr/>
            <p:nvPr/>
          </p:nvSpPr>
          <p:spPr>
            <a:xfrm>
              <a:off x="12478320" y="1852200"/>
              <a:ext cx="2056320" cy="2056320"/>
            </a:xfrm>
            <a:prstGeom prst="rect">
              <a:avLst/>
            </a:prstGeom>
            <a:solidFill>
              <a:srgbClr val="fafafa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78" name="" descr=""/>
            <p:cNvPicPr/>
            <p:nvPr/>
          </p:nvPicPr>
          <p:blipFill>
            <a:blip r:embed="rId14"/>
            <a:stretch/>
          </p:blipFill>
          <p:spPr>
            <a:xfrm>
              <a:off x="12840840" y="2148120"/>
              <a:ext cx="1495440" cy="15890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79" name=""/>
          <p:cNvSpPr/>
          <p:nvPr/>
        </p:nvSpPr>
        <p:spPr>
          <a:xfrm>
            <a:off x="9626400" y="4148280"/>
            <a:ext cx="8324280" cy="11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3000" spc="83" strike="noStrike">
                <a:solidFill>
                  <a:srgbClr val="fafafa"/>
                </a:solidFill>
                <a:latin typeface="Sansation"/>
                <a:ea typeface="Sansation"/>
              </a:rPr>
              <a:t>What is Jupyter Notebook? ( Interface)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80" name="Group 1"/>
          <p:cNvGrpSpPr/>
          <p:nvPr/>
        </p:nvGrpSpPr>
        <p:grpSpPr>
          <a:xfrm>
            <a:off x="9122400" y="4248000"/>
            <a:ext cx="392400" cy="392400"/>
            <a:chOff x="9122400" y="4248000"/>
            <a:chExt cx="392400" cy="392400"/>
          </a:xfrm>
        </p:grpSpPr>
        <p:sp>
          <p:nvSpPr>
            <p:cNvPr id="181" name="Freeform 56"/>
            <p:cNvSpPr/>
            <p:nvPr/>
          </p:nvSpPr>
          <p:spPr>
            <a:xfrm>
              <a:off x="9122400" y="4248000"/>
              <a:ext cx="392400" cy="392400"/>
            </a:xfrm>
            <a:custGeom>
              <a:avLst/>
              <a:gdLst>
                <a:gd name="textAreaLeft" fmla="*/ 0 w 392400"/>
                <a:gd name="textAreaRight" fmla="*/ 394560 w 392400"/>
                <a:gd name="textAreaTop" fmla="*/ 0 h 392400"/>
                <a:gd name="textAreaBottom" fmla="*/ 394560 h 39240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" name="TextBox 5"/>
            <p:cNvSpPr/>
            <p:nvPr/>
          </p:nvSpPr>
          <p:spPr>
            <a:xfrm>
              <a:off x="9159480" y="4266360"/>
              <a:ext cx="318600" cy="33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83" name=""/>
          <p:cNvSpPr/>
          <p:nvPr/>
        </p:nvSpPr>
        <p:spPr>
          <a:xfrm>
            <a:off x="9071640" y="4884480"/>
            <a:ext cx="8300880" cy="38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600" spc="-1" strike="noStrike">
                <a:solidFill>
                  <a:srgbClr val="ffffff"/>
                </a:solidFill>
                <a:latin typeface="Noto Serif Condensed Medium"/>
              </a:rPr>
              <a:t>An open-source web application that allows you to create and share documents containing live code, equations, visualizations, and narrative text.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600" spc="-1" strike="noStrike">
                <a:solidFill>
                  <a:srgbClr val="ffffff"/>
                </a:solidFill>
                <a:latin typeface="Noto Serif Condensed Medium"/>
              </a:rPr>
              <a:t>The Concept: It acts as a wrapper around the IPython Kernel, providing a "Notebook" structure for iterative data exploration.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8686800" y="1869840"/>
            <a:ext cx="360" cy="6588360"/>
          </a:xfrm>
          <a:prstGeom prst="line">
            <a:avLst/>
          </a:prstGeom>
          <a:ln w="0">
            <a:solidFill>
              <a:srgbClr val="fafaf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8" dur="indefinite" restart="never" nodeType="tmRoot">
          <p:childTnLst>
            <p:seq>
              <p:cTn id="209" dur="indefinite" nodeType="mainSeq">
                <p:childTnLst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1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1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24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nodeType="click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 transition="in">
                                      <p:cBhvr additive="repl">
                                        <p:cTn id="229" dur="125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4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5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40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45" dur="500"/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nodeType="click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 transition="in">
                                      <p:cBhvr additive="repl">
                                        <p:cTn id="250" dur="500"/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 transition="in">
                                      <p:cBhvr additive="repl">
                                        <p:cTn id="255" dur="500"/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1600200" y="5943600"/>
            <a:ext cx="2513520" cy="974160"/>
          </a:xfrm>
          <a:prstGeom prst="rect">
            <a:avLst/>
          </a:prstGeom>
          <a:ln w="0">
            <a:noFill/>
          </a:ln>
        </p:spPr>
      </p:pic>
      <p:grpSp>
        <p:nvGrpSpPr>
          <p:cNvPr id="186" name=""/>
          <p:cNvGrpSpPr/>
          <p:nvPr/>
        </p:nvGrpSpPr>
        <p:grpSpPr>
          <a:xfrm>
            <a:off x="1600200" y="913320"/>
            <a:ext cx="10514520" cy="913320"/>
            <a:chOff x="1600200" y="913320"/>
            <a:chExt cx="10514520" cy="913320"/>
          </a:xfrm>
        </p:grpSpPr>
        <p:grpSp>
          <p:nvGrpSpPr>
            <p:cNvPr id="187" name=""/>
            <p:cNvGrpSpPr/>
            <p:nvPr/>
          </p:nvGrpSpPr>
          <p:grpSpPr>
            <a:xfrm>
              <a:off x="1600200" y="913320"/>
              <a:ext cx="10514520" cy="913320"/>
              <a:chOff x="1600200" y="913320"/>
              <a:chExt cx="10514520" cy="913320"/>
            </a:xfrm>
          </p:grpSpPr>
          <p:sp>
            <p:nvSpPr>
              <p:cNvPr id="188" name=""/>
              <p:cNvSpPr/>
              <p:nvPr/>
            </p:nvSpPr>
            <p:spPr>
              <a:xfrm>
                <a:off x="1600200" y="913320"/>
                <a:ext cx="10514520" cy="913320"/>
              </a:xfrm>
              <a:prstGeom prst="roundRect">
                <a:avLst>
                  <a:gd name="adj" fmla="val 16667"/>
                </a:avLst>
              </a:prstGeom>
              <a:solidFill>
                <a:srgbClr val="6a1b9a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89" name=""/>
              <p:cNvSpPr/>
              <p:nvPr/>
            </p:nvSpPr>
            <p:spPr>
              <a:xfrm>
                <a:off x="1828800" y="1010520"/>
                <a:ext cx="10057320" cy="712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r>
                  <a:rPr b="0" lang="en-US" sz="3600" spc="205" strike="noStrike">
                    <a:solidFill>
                      <a:srgbClr val="fafafa"/>
                    </a:solidFill>
                    <a:latin typeface="HK Modular"/>
                    <a:ea typeface="HK Modular"/>
                  </a:rPr>
                  <a:t>Data Science Frameworks &amp; Alternatives</a:t>
                </a:r>
                <a:endParaRPr b="0" lang="en-US" sz="36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190" name="Freeform 62"/>
          <p:cNvSpPr/>
          <p:nvPr/>
        </p:nvSpPr>
        <p:spPr>
          <a:xfrm>
            <a:off x="228600" y="9408600"/>
            <a:ext cx="7313040" cy="769320"/>
          </a:xfrm>
          <a:custGeom>
            <a:avLst/>
            <a:gdLst>
              <a:gd name="textAreaLeft" fmla="*/ 0 w 7313040"/>
              <a:gd name="textAreaRight" fmla="*/ 731520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2"/>
                </a:lnTo>
                <a:lnTo>
                  <a:pt x="0" y="7714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Freeform 63"/>
          <p:cNvSpPr/>
          <p:nvPr/>
        </p:nvSpPr>
        <p:spPr>
          <a:xfrm flipH="1">
            <a:off x="10971720" y="228600"/>
            <a:ext cx="7313040" cy="769320"/>
          </a:xfrm>
          <a:custGeom>
            <a:avLst/>
            <a:gdLst>
              <a:gd name="textAreaLeft" fmla="*/ -1080 w 7313040"/>
              <a:gd name="textAreaRight" fmla="*/ 731412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2"/>
                </a:lnTo>
                <a:lnTo>
                  <a:pt x="7315200" y="771422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Freeform 64"/>
          <p:cNvSpPr/>
          <p:nvPr/>
        </p:nvSpPr>
        <p:spPr>
          <a:xfrm>
            <a:off x="16460280" y="937260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Freeform 65"/>
          <p:cNvSpPr/>
          <p:nvPr/>
        </p:nvSpPr>
        <p:spPr>
          <a:xfrm flipV="1">
            <a:off x="-2054880" y="-228708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360 h 4112640"/>
              <a:gd name="textAreaBottom" fmla="*/ 411516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Freeform 66"/>
          <p:cNvSpPr/>
          <p:nvPr/>
        </p:nvSpPr>
        <p:spPr>
          <a:xfrm rot="16200000">
            <a:off x="-2017080" y="54082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Freeform 67"/>
          <p:cNvSpPr/>
          <p:nvPr/>
        </p:nvSpPr>
        <p:spPr>
          <a:xfrm flipV="1" rot="16200000">
            <a:off x="15077520" y="41068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1080 h 769320"/>
              <a:gd name="textAreaBottom" fmla="*/ 77256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 rotWithShape="0"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6" name=""/>
          <p:cNvGrpSpPr/>
          <p:nvPr/>
        </p:nvGrpSpPr>
        <p:grpSpPr>
          <a:xfrm>
            <a:off x="1155600" y="2286000"/>
            <a:ext cx="7602120" cy="913320"/>
            <a:chOff x="1155600" y="2286000"/>
            <a:chExt cx="7602120" cy="913320"/>
          </a:xfrm>
        </p:grpSpPr>
        <p:sp>
          <p:nvSpPr>
            <p:cNvPr id="197" name=""/>
            <p:cNvSpPr/>
            <p:nvPr/>
          </p:nvSpPr>
          <p:spPr>
            <a:xfrm>
              <a:off x="1155600" y="2286000"/>
              <a:ext cx="7602120" cy="913320"/>
            </a:xfrm>
            <a:prstGeom prst="roundRect">
              <a:avLst>
                <a:gd name="adj" fmla="val 16667"/>
              </a:avLst>
            </a:prstGeom>
            <a:solidFill>
              <a:srgbClr val="283593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8" name="TextBox 6"/>
            <p:cNvSpPr/>
            <p:nvPr/>
          </p:nvSpPr>
          <p:spPr>
            <a:xfrm>
              <a:off x="1384200" y="2322000"/>
              <a:ext cx="7314120" cy="638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5031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b="0" lang="en-US" sz="3000" spc="83" strike="noStrike">
                  <a:solidFill>
                    <a:srgbClr val="fafafa"/>
                  </a:solidFill>
                  <a:latin typeface="Sansation"/>
                  <a:ea typeface="Sansation"/>
                </a:rPr>
                <a:t>1. Cloud-Based Solutions (Zero Setup)</a:t>
              </a:r>
              <a:endParaRPr b="0" lang="en-US" sz="30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99" name="TextBox 19"/>
          <p:cNvSpPr/>
          <p:nvPr/>
        </p:nvSpPr>
        <p:spPr>
          <a:xfrm>
            <a:off x="4512600" y="3429000"/>
            <a:ext cx="4630320" cy="12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031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2200" spc="83" strike="noStrike">
                <a:solidFill>
                  <a:srgbClr val="fafafa"/>
                </a:solidFill>
                <a:latin typeface="Noto Serif Condensed Medium"/>
                <a:ea typeface="Noto Sans CJK SC"/>
              </a:rPr>
              <a:t>built on Jupyter, and integrated with Google Drive.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12164400" y="3657600"/>
            <a:ext cx="485316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Noto Serif Condensed Medium"/>
              </a:rPr>
              <a:t>VS Code (with Jupyter Extension)</a:t>
            </a:r>
            <a:r>
              <a:rPr b="0" lang="en-US" sz="2600" spc="-1" strike="noStrike">
                <a:solidFill>
                  <a:srgbClr val="ffffff"/>
                </a:solidFill>
                <a:latin typeface="Noto Serif Condensed Medium"/>
              </a:rPr>
              <a:t>: </a:t>
            </a:r>
            <a:r>
              <a:rPr b="0" lang="en-US" sz="2200" spc="-1" strike="noStrike">
                <a:solidFill>
                  <a:srgbClr val="ffffff"/>
                </a:solidFill>
                <a:latin typeface="Noto Serif Condensed Medium"/>
              </a:rPr>
              <a:t>The best "Hybrid" solution, combining traditional coding with notebook cells.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9298800" y="2193840"/>
            <a:ext cx="360" cy="6588360"/>
          </a:xfrm>
          <a:prstGeom prst="line">
            <a:avLst/>
          </a:prstGeom>
          <a:ln w="0">
            <a:solidFill>
              <a:srgbClr val="fafaf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02" name=""/>
          <p:cNvGrpSpPr/>
          <p:nvPr/>
        </p:nvGrpSpPr>
        <p:grpSpPr>
          <a:xfrm>
            <a:off x="1503360" y="3429000"/>
            <a:ext cx="2838960" cy="1370520"/>
            <a:chOff x="1503360" y="3429000"/>
            <a:chExt cx="2838960" cy="1370520"/>
          </a:xfrm>
        </p:grpSpPr>
        <p:sp>
          <p:nvSpPr>
            <p:cNvPr id="203" name=""/>
            <p:cNvSpPr/>
            <p:nvPr/>
          </p:nvSpPr>
          <p:spPr>
            <a:xfrm>
              <a:off x="1503360" y="3429000"/>
              <a:ext cx="2838960" cy="1370520"/>
            </a:xfrm>
            <a:prstGeom prst="rect">
              <a:avLst/>
            </a:prstGeom>
            <a:solidFill>
              <a:srgbClr val="fafafa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04" name="" descr=""/>
            <p:cNvPicPr/>
            <p:nvPr/>
          </p:nvPicPr>
          <p:blipFill>
            <a:blip r:embed="rId14"/>
            <a:stretch/>
          </p:blipFill>
          <p:spPr>
            <a:xfrm>
              <a:off x="1731960" y="3429000"/>
              <a:ext cx="2610360" cy="1370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05" name=""/>
          <p:cNvSpPr/>
          <p:nvPr/>
        </p:nvSpPr>
        <p:spPr>
          <a:xfrm>
            <a:off x="4295160" y="5943600"/>
            <a:ext cx="4678560" cy="14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600" spc="-1" strike="noStrike">
                <a:solidFill>
                  <a:srgbClr val="ffffff"/>
                </a:solidFill>
                <a:latin typeface="Noto Serif Condensed Medium"/>
              </a:rPr>
              <a:t>Optimized for data science competitions with pre-installed libraries and datasets.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06" name=""/>
          <p:cNvGrpSpPr/>
          <p:nvPr/>
        </p:nvGrpSpPr>
        <p:grpSpPr>
          <a:xfrm>
            <a:off x="9795960" y="2286360"/>
            <a:ext cx="3557160" cy="913320"/>
            <a:chOff x="9795960" y="2286360"/>
            <a:chExt cx="3557160" cy="913320"/>
          </a:xfrm>
        </p:grpSpPr>
        <p:sp>
          <p:nvSpPr>
            <p:cNvPr id="207" name=""/>
            <p:cNvSpPr/>
            <p:nvPr/>
          </p:nvSpPr>
          <p:spPr>
            <a:xfrm>
              <a:off x="9795960" y="2286360"/>
              <a:ext cx="3557160" cy="913320"/>
            </a:xfrm>
            <a:prstGeom prst="roundRect">
              <a:avLst>
                <a:gd name="adj" fmla="val 16667"/>
              </a:avLst>
            </a:prstGeom>
            <a:solidFill>
              <a:srgbClr val="283593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8" name="TextBox 6"/>
            <p:cNvSpPr/>
            <p:nvPr/>
          </p:nvSpPr>
          <p:spPr>
            <a:xfrm>
              <a:off x="9902880" y="2322360"/>
              <a:ext cx="3422520" cy="638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5031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b="0" lang="en-US" sz="3000" spc="83" strike="noStrike">
                  <a:solidFill>
                    <a:srgbClr val="fafafa"/>
                  </a:solidFill>
                  <a:latin typeface="Sansation"/>
                  <a:ea typeface="Sansation"/>
                </a:rPr>
                <a:t>2. Local </a:t>
              </a:r>
              <a:endParaRPr b="0" lang="en-US" sz="30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9" name=""/>
          <p:cNvGrpSpPr/>
          <p:nvPr/>
        </p:nvGrpSpPr>
        <p:grpSpPr>
          <a:xfrm>
            <a:off x="9734400" y="3429000"/>
            <a:ext cx="2056320" cy="1911600"/>
            <a:chOff x="9734400" y="3429000"/>
            <a:chExt cx="2056320" cy="1911600"/>
          </a:xfrm>
        </p:grpSpPr>
        <p:sp>
          <p:nvSpPr>
            <p:cNvPr id="210" name=""/>
            <p:cNvSpPr/>
            <p:nvPr/>
          </p:nvSpPr>
          <p:spPr>
            <a:xfrm>
              <a:off x="9734400" y="3429000"/>
              <a:ext cx="2056320" cy="1911600"/>
            </a:xfrm>
            <a:prstGeom prst="roundRect">
              <a:avLst>
                <a:gd name="adj" fmla="val 16667"/>
              </a:avLst>
            </a:prstGeom>
            <a:solidFill>
              <a:srgbClr val="fafafa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11" name="" descr=""/>
            <p:cNvPicPr/>
            <p:nvPr/>
          </p:nvPicPr>
          <p:blipFill>
            <a:blip r:embed="rId15"/>
            <a:stretch/>
          </p:blipFill>
          <p:spPr>
            <a:xfrm>
              <a:off x="9979200" y="3657600"/>
              <a:ext cx="1509120" cy="15091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12" name=""/>
          <p:cNvGrpSpPr/>
          <p:nvPr/>
        </p:nvGrpSpPr>
        <p:grpSpPr>
          <a:xfrm>
            <a:off x="9905760" y="5715000"/>
            <a:ext cx="5385960" cy="913320"/>
            <a:chOff x="9905760" y="5715000"/>
            <a:chExt cx="5385960" cy="913320"/>
          </a:xfrm>
        </p:grpSpPr>
        <p:sp>
          <p:nvSpPr>
            <p:cNvPr id="213" name=""/>
            <p:cNvSpPr/>
            <p:nvPr/>
          </p:nvSpPr>
          <p:spPr>
            <a:xfrm>
              <a:off x="9905760" y="5715000"/>
              <a:ext cx="5385960" cy="913320"/>
            </a:xfrm>
            <a:prstGeom prst="roundRect">
              <a:avLst>
                <a:gd name="adj" fmla="val 16667"/>
              </a:avLst>
            </a:prstGeom>
            <a:solidFill>
              <a:srgbClr val="283593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4" name="TextBox 6"/>
            <p:cNvSpPr/>
            <p:nvPr/>
          </p:nvSpPr>
          <p:spPr>
            <a:xfrm>
              <a:off x="10067760" y="5751000"/>
              <a:ext cx="5181840" cy="638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5031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b="0" lang="en-US" sz="3000" spc="83" strike="noStrike">
                  <a:solidFill>
                    <a:srgbClr val="fafafa"/>
                  </a:solidFill>
                  <a:latin typeface="Sansation"/>
                  <a:ea typeface="Sansation"/>
                </a:rPr>
                <a:t>3. Distribution Platforms</a:t>
              </a:r>
              <a:endParaRPr b="0" lang="en-US" sz="30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215" name="" descr=""/>
          <p:cNvPicPr/>
          <p:nvPr/>
        </p:nvPicPr>
        <p:blipFill>
          <a:blip r:embed="rId16"/>
          <a:stretch/>
        </p:blipFill>
        <p:spPr>
          <a:xfrm>
            <a:off x="9842400" y="6858000"/>
            <a:ext cx="2141640" cy="2141640"/>
          </a:xfrm>
          <a:prstGeom prst="rect">
            <a:avLst/>
          </a:prstGeom>
          <a:ln w="0">
            <a:noFill/>
          </a:ln>
        </p:spPr>
      </p:pic>
      <p:sp>
        <p:nvSpPr>
          <p:cNvPr id="216" name=""/>
          <p:cNvSpPr/>
          <p:nvPr/>
        </p:nvSpPr>
        <p:spPr>
          <a:xfrm>
            <a:off x="12236400" y="7011360"/>
            <a:ext cx="4853160" cy="174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n-US" sz="2600" spc="-1" strike="noStrike">
                <a:solidFill>
                  <a:srgbClr val="ffffff"/>
                </a:solidFill>
                <a:latin typeface="Noto Serif Condensed Medium"/>
              </a:rPr>
              <a:t>Anaconda</a:t>
            </a:r>
            <a:r>
              <a:rPr b="0" lang="en-US" sz="2200" spc="-1" strike="noStrike">
                <a:solidFill>
                  <a:srgbClr val="ffffff"/>
                </a:solidFill>
                <a:latin typeface="Noto Serif Condensed Medium"/>
              </a:rPr>
              <a:t>: 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n-US" sz="2200" spc="-1" strike="noStrike">
                <a:solidFill>
                  <a:srgbClr val="ffffff"/>
                </a:solidFill>
                <a:latin typeface="Noto Serif Condensed Medium"/>
              </a:rPr>
              <a:t>The most popular distribution that simplifies package management and deployment for scientific computing.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6" dur="indefinite" restart="never" nodeType="tmRoot">
          <p:childTnLst>
            <p:seq>
              <p:cTn id="257" dur="indefinite" nodeType="mainSeq">
                <p:childTnLst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62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6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2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3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74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7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84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89" dur="500"/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4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5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00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305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10" dur="500"/>
                                        <p:tgtEl>
                                          <p:spTgt spid="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15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32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5" dur="500" fill="hold"/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6" dur="500" fill="hold"/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31" dur="500"/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Freeform 68"/>
          <p:cNvSpPr/>
          <p:nvPr/>
        </p:nvSpPr>
        <p:spPr>
          <a:xfrm>
            <a:off x="228600" y="9408600"/>
            <a:ext cx="7313040" cy="769320"/>
          </a:xfrm>
          <a:custGeom>
            <a:avLst/>
            <a:gdLst>
              <a:gd name="textAreaLeft" fmla="*/ 0 w 7313040"/>
              <a:gd name="textAreaRight" fmla="*/ 731520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2"/>
                </a:lnTo>
                <a:lnTo>
                  <a:pt x="0" y="7714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Freeform 69"/>
          <p:cNvSpPr/>
          <p:nvPr/>
        </p:nvSpPr>
        <p:spPr>
          <a:xfrm flipH="1">
            <a:off x="10971720" y="228600"/>
            <a:ext cx="7313040" cy="769320"/>
          </a:xfrm>
          <a:custGeom>
            <a:avLst/>
            <a:gdLst>
              <a:gd name="textAreaLeft" fmla="*/ -1080 w 7313040"/>
              <a:gd name="textAreaRight" fmla="*/ 731412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2"/>
                </a:lnTo>
                <a:lnTo>
                  <a:pt x="7315200" y="771422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Freeform 70"/>
          <p:cNvSpPr/>
          <p:nvPr/>
        </p:nvSpPr>
        <p:spPr>
          <a:xfrm>
            <a:off x="16460280" y="937260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Freeform 71"/>
          <p:cNvSpPr/>
          <p:nvPr/>
        </p:nvSpPr>
        <p:spPr>
          <a:xfrm flipV="1">
            <a:off x="-2054880" y="-228708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360 h 4112640"/>
              <a:gd name="textAreaBottom" fmla="*/ 411516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Freeform 72"/>
          <p:cNvSpPr/>
          <p:nvPr/>
        </p:nvSpPr>
        <p:spPr>
          <a:xfrm rot="16200000">
            <a:off x="-2017080" y="54082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2" name=""/>
          <p:cNvGrpSpPr/>
          <p:nvPr/>
        </p:nvGrpSpPr>
        <p:grpSpPr>
          <a:xfrm>
            <a:off x="6629400" y="1816200"/>
            <a:ext cx="5256720" cy="684720"/>
            <a:chOff x="6629400" y="1816200"/>
            <a:chExt cx="5256720" cy="684720"/>
          </a:xfrm>
        </p:grpSpPr>
        <p:sp>
          <p:nvSpPr>
            <p:cNvPr id="223" name=""/>
            <p:cNvSpPr/>
            <p:nvPr/>
          </p:nvSpPr>
          <p:spPr>
            <a:xfrm>
              <a:off x="6629400" y="1816200"/>
              <a:ext cx="4799520" cy="684720"/>
            </a:xfrm>
            <a:prstGeom prst="roundRect">
              <a:avLst>
                <a:gd name="adj" fmla="val 16667"/>
              </a:avLst>
            </a:prstGeom>
            <a:solidFill>
              <a:srgbClr val="512da8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4" name=""/>
            <p:cNvSpPr/>
            <p:nvPr/>
          </p:nvSpPr>
          <p:spPr>
            <a:xfrm>
              <a:off x="6629400" y="1816200"/>
              <a:ext cx="5256720" cy="68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4000" spc="-1" strike="noStrike">
                  <a:solidFill>
                    <a:srgbClr val="ffffff"/>
                  </a:solidFill>
                  <a:latin typeface="DejaVu Sans"/>
                </a:rPr>
                <a:t>Jupyter notebook</a:t>
              </a:r>
              <a:endParaRPr b="0" lang="en-US" sz="40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5" name=""/>
          <p:cNvGrpSpPr/>
          <p:nvPr/>
        </p:nvGrpSpPr>
        <p:grpSpPr>
          <a:xfrm>
            <a:off x="8229600" y="288000"/>
            <a:ext cx="1599120" cy="1370520"/>
            <a:chOff x="8229600" y="288000"/>
            <a:chExt cx="1599120" cy="1370520"/>
          </a:xfrm>
        </p:grpSpPr>
        <p:sp>
          <p:nvSpPr>
            <p:cNvPr id="226" name=""/>
            <p:cNvSpPr/>
            <p:nvPr/>
          </p:nvSpPr>
          <p:spPr>
            <a:xfrm>
              <a:off x="8229600" y="288000"/>
              <a:ext cx="1599120" cy="1370520"/>
            </a:xfrm>
            <a:prstGeom prst="rect">
              <a:avLst/>
            </a:prstGeom>
            <a:solidFill>
              <a:srgbClr val="fafafa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27" name="" descr=""/>
            <p:cNvPicPr/>
            <p:nvPr/>
          </p:nvPicPr>
          <p:blipFill>
            <a:blip r:embed="rId11"/>
            <a:stretch/>
          </p:blipFill>
          <p:spPr>
            <a:xfrm>
              <a:off x="8511480" y="485280"/>
              <a:ext cx="1162800" cy="10591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28" name=""/>
          <p:cNvGrpSpPr/>
          <p:nvPr/>
        </p:nvGrpSpPr>
        <p:grpSpPr>
          <a:xfrm>
            <a:off x="9372600" y="2395800"/>
            <a:ext cx="8548200" cy="3402000"/>
            <a:chOff x="9372600" y="2395800"/>
            <a:chExt cx="8548200" cy="3402000"/>
          </a:xfrm>
        </p:grpSpPr>
        <p:sp>
          <p:nvSpPr>
            <p:cNvPr id="229" name=""/>
            <p:cNvSpPr/>
            <p:nvPr/>
          </p:nvSpPr>
          <p:spPr>
            <a:xfrm>
              <a:off x="12573000" y="2442600"/>
              <a:ext cx="5347800" cy="684720"/>
            </a:xfrm>
            <a:prstGeom prst="roundRect">
              <a:avLst>
                <a:gd name="adj" fmla="val 16667"/>
              </a:avLst>
            </a:prstGeom>
            <a:solidFill>
              <a:srgbClr val="ffea00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" name=""/>
            <p:cNvSpPr/>
            <p:nvPr/>
          </p:nvSpPr>
          <p:spPr>
            <a:xfrm>
              <a:off x="9372600" y="2395800"/>
              <a:ext cx="8548200" cy="340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rtl="1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b="1" lang="hi-IN" sz="2600" spc="-1" strike="noStrike">
                  <a:solidFill>
                    <a:srgbClr val="000000"/>
                  </a:solidFill>
                  <a:latin typeface="Cairo"/>
                  <a:cs typeface="Cairo"/>
                </a:rPr>
                <a:t>التعامل مع الخلايا (</a:t>
              </a:r>
              <a:r>
                <a:rPr b="1" lang="en-US" sz="2600" spc="-1" strike="noStrike">
                  <a:solidFill>
                    <a:srgbClr val="000000"/>
                  </a:solidFill>
                  <a:latin typeface="Cairo"/>
                </a:rPr>
                <a:t>The Cell System</a:t>
              </a:r>
              <a:r>
                <a:rPr b="1" lang="en-US" sz="2600" spc="-1" strike="noStrike">
                  <a:solidFill>
                    <a:srgbClr val="000000"/>
                  </a:solidFill>
                  <a:latin typeface="Cairo"/>
                </a:rPr>
                <a:t>)</a:t>
              </a:r>
              <a:endParaRPr b="0" lang="en-US" sz="2600" spc="-1" strike="noStrike">
                <a:solidFill>
                  <a:srgbClr val="ffffff"/>
                </a:solidFill>
                <a:latin typeface="Arial"/>
              </a:endParaRPr>
            </a:p>
            <a:p>
              <a:pPr algn="r" rtl="1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b="1" lang="en-US" sz="2600" spc="-1" strike="noStrike">
                  <a:solidFill>
                    <a:srgbClr val="ffffff"/>
                  </a:solidFill>
                  <a:latin typeface="Cairo"/>
                </a:rPr>
                <a:t> الخلايا نوعان:</a:t>
              </a:r>
              <a:endParaRPr b="0" lang="en-US" sz="2600" spc="-1" strike="noStrike">
                <a:solidFill>
                  <a:srgbClr val="ffffff"/>
                </a:solidFill>
                <a:latin typeface="Arial"/>
              </a:endParaRPr>
            </a:p>
            <a:p>
              <a:pPr marL="216000" indent="-216000" algn="r" rtl="1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  <a:buClr>
                  <a:srgbClr val="ffffff"/>
                </a:buClr>
                <a:buSzPct val="45000"/>
                <a:buFont typeface="Wingdings" charset="2"/>
                <a:buChar char=""/>
              </a:pPr>
              <a:r>
                <a:rPr b="1" lang="en-US" sz="2600" spc="-1" strike="noStrike">
                  <a:solidFill>
                    <a:srgbClr val="b71c1c"/>
                  </a:solidFill>
                  <a:latin typeface="Cairo"/>
                </a:rPr>
                <a:t>Code Cell</a:t>
              </a:r>
              <a:r>
                <a:rPr b="1" lang="en-US" sz="2600" spc="-1" strike="noStrike">
                  <a:solidFill>
                    <a:srgbClr val="ffffff"/>
                  </a:solidFill>
                  <a:latin typeface="Cairo"/>
                </a:rPr>
                <a:t>: </a:t>
              </a:r>
              <a:r>
                <a:rPr b="0" lang="hi-IN" sz="2600" spc="-1" strike="noStrike">
                  <a:solidFill>
                    <a:srgbClr val="ffffff"/>
                  </a:solidFill>
                  <a:latin typeface="Cairo"/>
                  <a:cs typeface="Cairo"/>
                </a:rPr>
                <a:t>لكتابة أكواد البايثون .</a:t>
              </a:r>
              <a:endParaRPr b="0" lang="en-US" sz="2600" spc="-1" strike="noStrike">
                <a:solidFill>
                  <a:srgbClr val="ffffff"/>
                </a:solidFill>
                <a:latin typeface="Arial"/>
              </a:endParaRPr>
            </a:p>
            <a:p>
              <a:pPr marL="216000" indent="-216000" algn="r" rtl="1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  <a:buClr>
                  <a:srgbClr val="ffffff"/>
                </a:buClr>
                <a:buSzPct val="45000"/>
                <a:buFont typeface="Wingdings" charset="2"/>
                <a:buChar char=""/>
              </a:pPr>
              <a:r>
                <a:rPr b="1" lang="en-US" sz="2600" spc="-1" strike="noStrike">
                  <a:solidFill>
                    <a:srgbClr val="b71c1c"/>
                  </a:solidFill>
                  <a:latin typeface="Cairo"/>
                </a:rPr>
                <a:t>Markdown Cell</a:t>
              </a:r>
              <a:r>
                <a:rPr b="0" lang="en-US" sz="2600" spc="-1" strike="noStrike">
                  <a:solidFill>
                    <a:srgbClr val="b71c1c"/>
                  </a:solidFill>
                  <a:latin typeface="Cairo"/>
                </a:rPr>
                <a:t>:</a:t>
              </a:r>
              <a:r>
                <a:rPr b="0" lang="en-US" sz="2600" spc="-1" strike="noStrike">
                  <a:solidFill>
                    <a:srgbClr val="ffffff"/>
                  </a:solidFill>
                  <a:latin typeface="Cairo"/>
                </a:rPr>
                <a:t> لكتابة الشرح، العناوين، وال(</a:t>
              </a:r>
              <a:r>
                <a:rPr b="0" lang="en-US" sz="2600" spc="-1" strike="noStrike">
                  <a:solidFill>
                    <a:srgbClr val="ffffff"/>
                  </a:solidFill>
                  <a:latin typeface="Cairo"/>
                </a:rPr>
                <a:t>Documentation</a:t>
              </a:r>
              <a:r>
                <a:rPr b="0" lang="en-US" sz="2600" spc="-1" strike="noStrike">
                  <a:solidFill>
                    <a:srgbClr val="ffffff"/>
                  </a:solidFill>
                  <a:latin typeface="Cairo"/>
                </a:rPr>
                <a:t>).</a:t>
              </a:r>
              <a:endParaRPr b="0" lang="en-US" sz="26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1" name=""/>
          <p:cNvGrpSpPr/>
          <p:nvPr/>
        </p:nvGrpSpPr>
        <p:grpSpPr>
          <a:xfrm>
            <a:off x="1143000" y="2661120"/>
            <a:ext cx="7771320" cy="6253200"/>
            <a:chOff x="1143000" y="2661120"/>
            <a:chExt cx="7771320" cy="6253200"/>
          </a:xfrm>
        </p:grpSpPr>
        <p:sp>
          <p:nvSpPr>
            <p:cNvPr id="232" name=""/>
            <p:cNvSpPr/>
            <p:nvPr/>
          </p:nvSpPr>
          <p:spPr>
            <a:xfrm>
              <a:off x="6629400" y="2733120"/>
              <a:ext cx="2284920" cy="538200"/>
            </a:xfrm>
            <a:prstGeom prst="roundRect">
              <a:avLst>
                <a:gd name="adj" fmla="val 16667"/>
              </a:avLst>
            </a:prstGeom>
            <a:solidFill>
              <a:srgbClr val="ffea00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" name=""/>
            <p:cNvSpPr/>
            <p:nvPr/>
          </p:nvSpPr>
          <p:spPr>
            <a:xfrm>
              <a:off x="1143000" y="2661120"/>
              <a:ext cx="7771320" cy="625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rtl="1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b="0" lang="hi-IN" sz="2600" spc="-1" strike="noStrike">
                  <a:solidFill>
                    <a:srgbClr val="000000"/>
                  </a:solidFill>
                  <a:latin typeface="Cairo"/>
                  <a:cs typeface="Cairo"/>
                </a:rPr>
                <a:t>أهم الاختصارات :</a:t>
              </a:r>
              <a:endParaRPr b="0" lang="en-US" sz="2600" spc="-1" strike="noStrike">
                <a:solidFill>
                  <a:srgbClr val="ffffff"/>
                </a:solidFill>
                <a:latin typeface="Arial"/>
              </a:endParaRPr>
            </a:p>
            <a:p>
              <a:pPr algn="r" rtl="1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b="1" lang="en-US" sz="2600" spc="-1" strike="noStrike">
                  <a:solidFill>
                    <a:srgbClr val="1b5e20"/>
                  </a:solidFill>
                  <a:latin typeface="Cairo"/>
                </a:rPr>
                <a:t>Shift + Enter</a:t>
              </a:r>
              <a:r>
                <a:rPr b="1" lang="en-US" sz="2600" spc="-1" strike="noStrike">
                  <a:solidFill>
                    <a:srgbClr val="1b5e20"/>
                  </a:solidFill>
                  <a:latin typeface="Cairo"/>
                </a:rPr>
                <a:t>:</a:t>
              </a:r>
              <a:r>
                <a:rPr b="0" lang="en-US" sz="2600" spc="-1" strike="noStrike">
                  <a:solidFill>
                    <a:srgbClr val="ffffff"/>
                  </a:solidFill>
                  <a:latin typeface="Cairo"/>
                </a:rPr>
                <a:t> تشغيل الخلية الحالية والانتقال للتي تليها.</a:t>
              </a:r>
              <a:endParaRPr b="0" lang="en-US" sz="2600" spc="-1" strike="noStrike">
                <a:solidFill>
                  <a:srgbClr val="ffffff"/>
                </a:solidFill>
                <a:latin typeface="Arial"/>
              </a:endParaRPr>
            </a:p>
            <a:p>
              <a:pPr algn="r" rtl="1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b="1" lang="en-US" sz="2600" spc="-1" strike="noStrike">
                  <a:solidFill>
                    <a:srgbClr val="1b5e20"/>
                  </a:solidFill>
                  <a:latin typeface="Cairo"/>
                </a:rPr>
                <a:t>Ctrl + Enter</a:t>
              </a:r>
              <a:r>
                <a:rPr b="0" lang="en-US" sz="2600" spc="-1" strike="noStrike">
                  <a:solidFill>
                    <a:srgbClr val="1b5e20"/>
                  </a:solidFill>
                  <a:latin typeface="Cairo"/>
                </a:rPr>
                <a:t>: </a:t>
              </a:r>
              <a:r>
                <a:rPr b="0" lang="hi-IN" sz="2600" spc="-1" strike="noStrike">
                  <a:solidFill>
                    <a:srgbClr val="ffffff"/>
                  </a:solidFill>
                  <a:latin typeface="Cairo"/>
                  <a:cs typeface="Cairo"/>
                </a:rPr>
                <a:t>تشغيل الخلية الحالية والبقاء فيها.</a:t>
              </a:r>
              <a:endParaRPr b="0" lang="en-US" sz="2600" spc="-1" strike="noStrike">
                <a:solidFill>
                  <a:srgbClr val="ffffff"/>
                </a:solidFill>
                <a:latin typeface="Arial"/>
              </a:endParaRPr>
            </a:p>
            <a:p>
              <a:pPr algn="r" rtl="1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b="0" lang="en-US" sz="2600" spc="-1" strike="noStrike">
                  <a:solidFill>
                    <a:srgbClr val="1b5e20"/>
                  </a:solidFill>
                  <a:latin typeface="Cairo"/>
                </a:rPr>
                <a:t> </a:t>
              </a:r>
              <a:r>
                <a:rPr b="1" lang="en-US" sz="2600" spc="-1" strike="noStrike">
                  <a:solidFill>
                    <a:srgbClr val="1b5e20"/>
                  </a:solidFill>
                  <a:latin typeface="Cairo"/>
                </a:rPr>
                <a:t>A</a:t>
              </a:r>
              <a:r>
                <a:rPr b="1" lang="en-US" sz="2600" spc="-1" strike="noStrike">
                  <a:solidFill>
                    <a:srgbClr val="1b5e20"/>
                  </a:solidFill>
                  <a:latin typeface="Cairo"/>
                </a:rPr>
                <a:t>:</a:t>
              </a:r>
              <a:r>
                <a:rPr b="0" lang="en-US" sz="2600" spc="-1" strike="noStrike">
                  <a:solidFill>
                    <a:srgbClr val="1b5e20"/>
                  </a:solidFill>
                  <a:latin typeface="Cairo"/>
                </a:rPr>
                <a:t> </a:t>
              </a:r>
              <a:r>
                <a:rPr b="0" lang="hi-IN" sz="2600" spc="-1" strike="noStrike">
                  <a:solidFill>
                    <a:srgbClr val="ffffff"/>
                  </a:solidFill>
                  <a:latin typeface="Cairo"/>
                  <a:cs typeface="Cairo"/>
                </a:rPr>
                <a:t>إضافة خلية بالأعلى (</a:t>
              </a:r>
              <a:r>
                <a:rPr b="0" lang="en-US" sz="2600" spc="-1" strike="noStrike">
                  <a:solidFill>
                    <a:srgbClr val="ffffff"/>
                  </a:solidFill>
                  <a:latin typeface="Cairo"/>
                </a:rPr>
                <a:t>Above</a:t>
              </a:r>
              <a:r>
                <a:rPr b="0" lang="en-US" sz="2600" spc="-1" strike="noStrike">
                  <a:solidFill>
                    <a:srgbClr val="ffffff"/>
                  </a:solidFill>
                  <a:latin typeface="Cairo"/>
                </a:rPr>
                <a:t>).</a:t>
              </a:r>
              <a:endParaRPr b="0" lang="en-US" sz="2600" spc="-1" strike="noStrike">
                <a:solidFill>
                  <a:srgbClr val="ffffff"/>
                </a:solidFill>
                <a:latin typeface="Arial"/>
              </a:endParaRPr>
            </a:p>
            <a:p>
              <a:pPr algn="r" rtl="1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b="0" lang="en-US" sz="2600" spc="-1" strike="noStrike">
                  <a:solidFill>
                    <a:srgbClr val="ffffff"/>
                  </a:solidFill>
                  <a:latin typeface="Cairo"/>
                </a:rPr>
                <a:t> </a:t>
              </a:r>
              <a:r>
                <a:rPr b="1" lang="en-US" sz="2600" spc="-1" strike="noStrike">
                  <a:solidFill>
                    <a:srgbClr val="1b5e20"/>
                  </a:solidFill>
                  <a:latin typeface="Cairo"/>
                </a:rPr>
                <a:t>B</a:t>
              </a:r>
              <a:r>
                <a:rPr b="1" lang="en-US" sz="2600" spc="-1" strike="noStrike">
                  <a:solidFill>
                    <a:srgbClr val="1b5e20"/>
                  </a:solidFill>
                  <a:latin typeface="Cairo"/>
                </a:rPr>
                <a:t>:</a:t>
              </a:r>
              <a:r>
                <a:rPr b="0" lang="en-US" sz="2600" spc="-1" strike="noStrike">
                  <a:solidFill>
                    <a:srgbClr val="ffffff"/>
                  </a:solidFill>
                  <a:latin typeface="Cairo"/>
                </a:rPr>
                <a:t> إضافة خلية بالأسفل (</a:t>
              </a:r>
              <a:r>
                <a:rPr b="0" lang="en-US" sz="2600" spc="-1" strike="noStrike">
                  <a:solidFill>
                    <a:srgbClr val="ffffff"/>
                  </a:solidFill>
                  <a:latin typeface="Cairo"/>
                </a:rPr>
                <a:t>Below</a:t>
              </a:r>
              <a:r>
                <a:rPr b="0" lang="en-US" sz="2600" spc="-1" strike="noStrike">
                  <a:solidFill>
                    <a:srgbClr val="ffffff"/>
                  </a:solidFill>
                  <a:latin typeface="Cairo"/>
                </a:rPr>
                <a:t>).</a:t>
              </a:r>
              <a:endParaRPr b="0" lang="en-US" sz="2600" spc="-1" strike="noStrike">
                <a:solidFill>
                  <a:srgbClr val="ffffff"/>
                </a:solidFill>
                <a:latin typeface="Arial"/>
              </a:endParaRPr>
            </a:p>
            <a:p>
              <a:pPr algn="r" rtl="1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b="0" lang="en-US" sz="2600" spc="-1" strike="noStrike">
                  <a:solidFill>
                    <a:srgbClr val="ffffff"/>
                  </a:solidFill>
                  <a:latin typeface="Cairo"/>
                </a:rPr>
                <a:t> </a:t>
              </a:r>
              <a:r>
                <a:rPr b="1" lang="en-US" sz="2600" spc="-1" strike="noStrike">
                  <a:solidFill>
                    <a:srgbClr val="1b5e20"/>
                  </a:solidFill>
                  <a:latin typeface="Cairo"/>
                </a:rPr>
                <a:t>M</a:t>
              </a:r>
              <a:r>
                <a:rPr b="1" lang="en-US" sz="2600" spc="-1" strike="noStrike">
                  <a:solidFill>
                    <a:srgbClr val="1b5e20"/>
                  </a:solidFill>
                  <a:latin typeface="Cairo"/>
                </a:rPr>
                <a:t>: </a:t>
              </a:r>
              <a:r>
                <a:rPr b="0" lang="hi-IN" sz="2600" spc="-1" strike="noStrike">
                  <a:solidFill>
                    <a:srgbClr val="ffffff"/>
                  </a:solidFill>
                  <a:latin typeface="Cairo"/>
                  <a:cs typeface="Cairo"/>
                </a:rPr>
                <a:t>تحويل الخلية من كود إلى </a:t>
              </a:r>
              <a:r>
                <a:rPr b="0" lang="en-US" sz="2600" spc="-1" strike="noStrike">
                  <a:solidFill>
                    <a:srgbClr val="ffffff"/>
                  </a:solidFill>
                  <a:latin typeface="Cairo"/>
                </a:rPr>
                <a:t>Markdown</a:t>
              </a:r>
              <a:r>
                <a:rPr b="0" lang="en-US" sz="2600" spc="-1" strike="noStrike">
                  <a:solidFill>
                    <a:srgbClr val="ffffff"/>
                  </a:solidFill>
                  <a:latin typeface="Cairo"/>
                </a:rPr>
                <a:t> (للشرح).</a:t>
              </a:r>
              <a:endParaRPr b="0" lang="en-US" sz="2600" spc="-1" strike="noStrike">
                <a:solidFill>
                  <a:srgbClr val="ffffff"/>
                </a:solidFill>
                <a:latin typeface="Arial"/>
              </a:endParaRPr>
            </a:p>
            <a:p>
              <a:pPr algn="r" rtl="1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b="0" lang="en-US" sz="2600" spc="-1" strike="noStrike">
                  <a:solidFill>
                    <a:srgbClr val="ffffff"/>
                  </a:solidFill>
                  <a:latin typeface="Cairo"/>
                </a:rPr>
                <a:t> </a:t>
              </a:r>
              <a:r>
                <a:rPr b="1" lang="en-US" sz="2600" spc="-1" strike="noStrike">
                  <a:solidFill>
                    <a:srgbClr val="1b5e20"/>
                  </a:solidFill>
                  <a:latin typeface="Cairo"/>
                </a:rPr>
                <a:t>Y</a:t>
              </a:r>
              <a:r>
                <a:rPr b="1" lang="en-US" sz="2600" spc="-1" strike="noStrike">
                  <a:solidFill>
                    <a:srgbClr val="1b5e20"/>
                  </a:solidFill>
                  <a:latin typeface="Cairo"/>
                </a:rPr>
                <a:t>: </a:t>
              </a:r>
              <a:r>
                <a:rPr b="0" lang="hi-IN" sz="2600" spc="-1" strike="noStrike">
                  <a:solidFill>
                    <a:srgbClr val="ffffff"/>
                  </a:solidFill>
                  <a:latin typeface="Cairo"/>
                  <a:cs typeface="Cairo"/>
                </a:rPr>
                <a:t>تحويل الخلية من </a:t>
              </a:r>
              <a:r>
                <a:rPr b="0" lang="en-US" sz="2600" spc="-1" strike="noStrike">
                  <a:solidFill>
                    <a:srgbClr val="ffffff"/>
                  </a:solidFill>
                  <a:latin typeface="Cairo"/>
                </a:rPr>
                <a:t>Markdown</a:t>
              </a:r>
              <a:r>
                <a:rPr b="0" lang="en-US" sz="2600" spc="-1" strike="noStrike">
                  <a:solidFill>
                    <a:srgbClr val="ffffff"/>
                  </a:solidFill>
                  <a:latin typeface="Cairo"/>
                </a:rPr>
                <a:t> إلى كود.</a:t>
              </a:r>
              <a:endParaRPr b="0" lang="en-US" sz="26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4" name=""/>
          <p:cNvGrpSpPr/>
          <p:nvPr/>
        </p:nvGrpSpPr>
        <p:grpSpPr>
          <a:xfrm>
            <a:off x="10058400" y="6629400"/>
            <a:ext cx="7771320" cy="1827720"/>
            <a:chOff x="10058400" y="6629400"/>
            <a:chExt cx="7771320" cy="1827720"/>
          </a:xfrm>
        </p:grpSpPr>
        <p:sp>
          <p:nvSpPr>
            <p:cNvPr id="235" name=""/>
            <p:cNvSpPr/>
            <p:nvPr/>
          </p:nvSpPr>
          <p:spPr>
            <a:xfrm>
              <a:off x="10058400" y="6858000"/>
              <a:ext cx="7542720" cy="159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rtl="1">
                <a:lnSpc>
                  <a:spcPct val="100000"/>
                </a:lnSpc>
                <a:spcBef>
                  <a:spcPts val="340"/>
                </a:spcBef>
                <a:spcAft>
                  <a:spcPts val="142"/>
                </a:spcAft>
              </a:pPr>
              <a:r>
                <a:rPr b="0" lang="hi-IN" sz="2600" spc="-1" strike="noStrike">
                  <a:solidFill>
                    <a:srgbClr val="ffffff"/>
                  </a:solidFill>
                  <a:latin typeface="Cairo"/>
                  <a:cs typeface="Cairo"/>
                </a:rPr>
                <a:t>يتم حفظ الملف بصيغة .</a:t>
              </a:r>
              <a:r>
                <a:rPr b="0" lang="en-US" sz="2600" spc="-1" strike="noStrike">
                  <a:solidFill>
                    <a:srgbClr val="ffffff"/>
                  </a:solidFill>
                  <a:latin typeface="Cairo"/>
                </a:rPr>
                <a:t>ipynb</a:t>
              </a:r>
              <a:r>
                <a:rPr b="0" lang="en-US" sz="2600" spc="-1" strike="noStrike">
                  <a:solidFill>
                    <a:srgbClr val="ffffff"/>
                  </a:solidFill>
                  <a:latin typeface="Cairo"/>
                </a:rPr>
                <a:t> </a:t>
              </a:r>
              <a:endParaRPr b="0" lang="en-US" sz="2600" spc="-1" strike="noStrike">
                <a:solidFill>
                  <a:srgbClr val="ffffff"/>
                </a:solidFill>
                <a:latin typeface="Arial"/>
              </a:endParaRPr>
            </a:p>
            <a:p>
              <a:pPr algn="r" rtl="1">
                <a:lnSpc>
                  <a:spcPct val="100000"/>
                </a:lnSpc>
                <a:spcBef>
                  <a:spcPts val="340"/>
                </a:spcBef>
                <a:spcAft>
                  <a:spcPts val="142"/>
                </a:spcAft>
              </a:pPr>
              <a:r>
                <a:rPr b="0" lang="en-US" sz="2600" spc="-1" strike="noStrike">
                  <a:solidFill>
                    <a:srgbClr val="ffffff"/>
                  </a:solidFill>
                  <a:latin typeface="Cairo"/>
                </a:rPr>
                <a:t>(وهو اختصار لـ </a:t>
              </a:r>
              <a:r>
                <a:rPr b="0" lang="en-US" sz="2600" spc="-1" strike="noStrike">
                  <a:solidFill>
                    <a:srgbClr val="ffffff"/>
                  </a:solidFill>
                  <a:latin typeface="Cairo"/>
                </a:rPr>
                <a:t>Interactive Python Notebook</a:t>
              </a:r>
              <a:r>
                <a:rPr b="0" lang="en-US" sz="2600" spc="-1" strike="noStrike">
                  <a:solidFill>
                    <a:srgbClr val="ffffff"/>
                  </a:solidFill>
                  <a:latin typeface="Cairo"/>
                </a:rPr>
                <a:t>).</a:t>
              </a:r>
              <a:endParaRPr b="0" lang="en-US" sz="26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6" name=""/>
            <p:cNvSpPr/>
            <p:nvPr/>
          </p:nvSpPr>
          <p:spPr>
            <a:xfrm>
              <a:off x="17373600" y="6629400"/>
              <a:ext cx="456120" cy="1827720"/>
            </a:xfrm>
            <a:custGeom>
              <a:avLst/>
              <a:gdLst>
                <a:gd name="textAreaLeft" fmla="*/ 0 w 456120"/>
                <a:gd name="textAreaRight" fmla="*/ 320760 w 456120"/>
                <a:gd name="textAreaTop" fmla="*/ 75960 h 1827720"/>
                <a:gd name="textAreaBottom" fmla="*/ 1752840 h 182772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cubicBezTo>
                    <a:pt x="10800" y="0"/>
                    <a:pt x="21600" y="900"/>
                    <a:pt x="21600" y="1800"/>
                  </a:cubicBezTo>
                  <a:lnTo>
                    <a:pt x="21600" y="19800"/>
                  </a:lnTo>
                  <a:cubicBezTo>
                    <a:pt x="21600" y="20700"/>
                    <a:pt x="10800" y="21600"/>
                    <a:pt x="0" y="21600"/>
                  </a:cubicBezTo>
                </a:path>
              </a:pathLst>
            </a:custGeom>
            <a:noFill/>
            <a:ln w="0">
              <a:solidFill>
                <a:srgbClr val="6a1b9a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7" name=""/>
            <p:cNvSpPr/>
            <p:nvPr/>
          </p:nvSpPr>
          <p:spPr>
            <a:xfrm>
              <a:off x="10972800" y="6858000"/>
              <a:ext cx="456120" cy="1599120"/>
            </a:xfrm>
            <a:custGeom>
              <a:avLst/>
              <a:gdLst>
                <a:gd name="textAreaLeft" fmla="*/ 134280 w 456120"/>
                <a:gd name="textAreaRight" fmla="*/ 457560 w 456120"/>
                <a:gd name="textAreaTop" fmla="*/ 66600 h 1599120"/>
                <a:gd name="textAreaBottom" fmla="*/ 1533600 h 1599120"/>
              </a:gdLst>
              <a:ahLst/>
              <a:rect l="textAreaLeft" t="textAreaTop" r="textAreaRight" b="textAreaBottom"/>
              <a:pathLst>
                <a:path w="21600" h="21600">
                  <a:moveTo>
                    <a:pt x="21600" y="0"/>
                  </a:moveTo>
                  <a:cubicBezTo>
                    <a:pt x="10800" y="0"/>
                    <a:pt x="0" y="900"/>
                    <a:pt x="0" y="1800"/>
                  </a:cubicBezTo>
                  <a:lnTo>
                    <a:pt x="0" y="19800"/>
                  </a:lnTo>
                  <a:cubicBezTo>
                    <a:pt x="0" y="20700"/>
                    <a:pt x="10800" y="21600"/>
                    <a:pt x="21600" y="21600"/>
                  </a:cubicBezTo>
                </a:path>
              </a:pathLst>
            </a:custGeom>
            <a:noFill/>
            <a:ln w="0">
              <a:solidFill>
                <a:srgbClr val="6a1b9a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2" dur="indefinite" restart="never" nodeType="tmRoot">
          <p:childTnLst>
            <p:seq>
              <p:cTn id="333" dur="indefinite" nodeType="mainSeq">
                <p:childTnLst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38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nodeType="clickEffect" fill="hold" presetClass="entr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343" dur="8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48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5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Freeform 73"/>
          <p:cNvSpPr/>
          <p:nvPr/>
        </p:nvSpPr>
        <p:spPr>
          <a:xfrm>
            <a:off x="228600" y="9408600"/>
            <a:ext cx="7313040" cy="769320"/>
          </a:xfrm>
          <a:custGeom>
            <a:avLst/>
            <a:gdLst>
              <a:gd name="textAreaLeft" fmla="*/ 0 w 7313040"/>
              <a:gd name="textAreaRight" fmla="*/ 731520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2"/>
                </a:lnTo>
                <a:lnTo>
                  <a:pt x="0" y="7714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Freeform 74"/>
          <p:cNvSpPr/>
          <p:nvPr/>
        </p:nvSpPr>
        <p:spPr>
          <a:xfrm flipH="1">
            <a:off x="10971720" y="228600"/>
            <a:ext cx="7313040" cy="769320"/>
          </a:xfrm>
          <a:custGeom>
            <a:avLst/>
            <a:gdLst>
              <a:gd name="textAreaLeft" fmla="*/ -1080 w 7313040"/>
              <a:gd name="textAreaRight" fmla="*/ 731412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2"/>
                </a:lnTo>
                <a:lnTo>
                  <a:pt x="7315200" y="771422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Freeform 75"/>
          <p:cNvSpPr/>
          <p:nvPr/>
        </p:nvSpPr>
        <p:spPr>
          <a:xfrm>
            <a:off x="16460280" y="937260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Freeform 76"/>
          <p:cNvSpPr/>
          <p:nvPr/>
        </p:nvSpPr>
        <p:spPr>
          <a:xfrm flipV="1">
            <a:off x="-2054880" y="-228708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360 h 4112640"/>
              <a:gd name="textAreaBottom" fmla="*/ 411516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Freeform 77"/>
          <p:cNvSpPr/>
          <p:nvPr/>
        </p:nvSpPr>
        <p:spPr>
          <a:xfrm rot="16200000">
            <a:off x="-2017080" y="54082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3" name=""/>
          <p:cNvGrpSpPr/>
          <p:nvPr/>
        </p:nvGrpSpPr>
        <p:grpSpPr>
          <a:xfrm>
            <a:off x="6629400" y="1816200"/>
            <a:ext cx="5256720" cy="684720"/>
            <a:chOff x="6629400" y="1816200"/>
            <a:chExt cx="5256720" cy="684720"/>
          </a:xfrm>
        </p:grpSpPr>
        <p:sp>
          <p:nvSpPr>
            <p:cNvPr id="244" name=""/>
            <p:cNvSpPr/>
            <p:nvPr/>
          </p:nvSpPr>
          <p:spPr>
            <a:xfrm>
              <a:off x="6629400" y="1816200"/>
              <a:ext cx="4799520" cy="684720"/>
            </a:xfrm>
            <a:prstGeom prst="roundRect">
              <a:avLst>
                <a:gd name="adj" fmla="val 16667"/>
              </a:avLst>
            </a:prstGeom>
            <a:solidFill>
              <a:srgbClr val="512da8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5" name=""/>
            <p:cNvSpPr/>
            <p:nvPr/>
          </p:nvSpPr>
          <p:spPr>
            <a:xfrm>
              <a:off x="6629400" y="1816200"/>
              <a:ext cx="5256720" cy="68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4000" spc="-1" strike="noStrike">
                  <a:solidFill>
                    <a:srgbClr val="ffffff"/>
                  </a:solidFill>
                  <a:latin typeface="DejaVu Sans"/>
                </a:rPr>
                <a:t>Jupyter notebook</a:t>
              </a:r>
              <a:endParaRPr b="0" lang="en-US" sz="40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46" name=""/>
          <p:cNvGrpSpPr/>
          <p:nvPr/>
        </p:nvGrpSpPr>
        <p:grpSpPr>
          <a:xfrm>
            <a:off x="8229600" y="288000"/>
            <a:ext cx="1599120" cy="1370520"/>
            <a:chOff x="8229600" y="288000"/>
            <a:chExt cx="1599120" cy="1370520"/>
          </a:xfrm>
        </p:grpSpPr>
        <p:sp>
          <p:nvSpPr>
            <p:cNvPr id="247" name=""/>
            <p:cNvSpPr/>
            <p:nvPr/>
          </p:nvSpPr>
          <p:spPr>
            <a:xfrm>
              <a:off x="8229600" y="288000"/>
              <a:ext cx="1599120" cy="1370520"/>
            </a:xfrm>
            <a:prstGeom prst="rect">
              <a:avLst/>
            </a:prstGeom>
            <a:solidFill>
              <a:srgbClr val="fafafa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48" name="" descr=""/>
            <p:cNvPicPr/>
            <p:nvPr/>
          </p:nvPicPr>
          <p:blipFill>
            <a:blip r:embed="rId11"/>
            <a:stretch/>
          </p:blipFill>
          <p:spPr>
            <a:xfrm>
              <a:off x="8511480" y="485280"/>
              <a:ext cx="1162800" cy="10591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49" name=""/>
          <p:cNvGrpSpPr/>
          <p:nvPr/>
        </p:nvGrpSpPr>
        <p:grpSpPr>
          <a:xfrm>
            <a:off x="5257800" y="2707200"/>
            <a:ext cx="7314120" cy="720720"/>
            <a:chOff x="5257800" y="2707200"/>
            <a:chExt cx="7314120" cy="720720"/>
          </a:xfrm>
        </p:grpSpPr>
        <p:sp>
          <p:nvSpPr>
            <p:cNvPr id="250" name=""/>
            <p:cNvSpPr/>
            <p:nvPr/>
          </p:nvSpPr>
          <p:spPr>
            <a:xfrm>
              <a:off x="5257800" y="2707200"/>
              <a:ext cx="7314120" cy="720720"/>
            </a:xfrm>
            <a:prstGeom prst="roundRect">
              <a:avLst>
                <a:gd name="adj" fmla="val 16667"/>
              </a:avLst>
            </a:prstGeom>
            <a:solidFill>
              <a:srgbClr val="e53935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1" name=""/>
            <p:cNvSpPr/>
            <p:nvPr/>
          </p:nvSpPr>
          <p:spPr>
            <a:xfrm>
              <a:off x="5486400" y="2754720"/>
              <a:ext cx="6699240" cy="601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3600" spc="-1" strike="noStrike">
                  <a:solidFill>
                    <a:srgbClr val="ffffff"/>
                  </a:solidFill>
                  <a:latin typeface="Arial"/>
                </a:rPr>
                <a:t>Write a Professional </a:t>
              </a:r>
              <a:r>
                <a:rPr b="1" lang="en-US" sz="3600" spc="-1" strike="noStrike" u="sng">
                  <a:solidFill>
                    <a:srgbClr val="000000"/>
                  </a:solidFill>
                  <a:uFillTx/>
                  <a:latin typeface="Arial"/>
                </a:rPr>
                <a:t>MarkDown</a:t>
              </a:r>
              <a:endParaRPr b="0" lang="en-US" sz="36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52" name=""/>
          <p:cNvGrpSpPr/>
          <p:nvPr/>
        </p:nvGrpSpPr>
        <p:grpSpPr>
          <a:xfrm>
            <a:off x="1900800" y="3561120"/>
            <a:ext cx="2394000" cy="781200"/>
            <a:chOff x="1900800" y="3561120"/>
            <a:chExt cx="2394000" cy="781200"/>
          </a:xfrm>
        </p:grpSpPr>
        <p:sp>
          <p:nvSpPr>
            <p:cNvPr id="253" name=""/>
            <p:cNvSpPr/>
            <p:nvPr/>
          </p:nvSpPr>
          <p:spPr>
            <a:xfrm>
              <a:off x="1900800" y="3657600"/>
              <a:ext cx="2394000" cy="684720"/>
            </a:xfrm>
            <a:prstGeom prst="roundRect">
              <a:avLst>
                <a:gd name="adj" fmla="val 16667"/>
              </a:avLst>
            </a:prstGeom>
            <a:solidFill>
              <a:srgbClr val="ff6f00"/>
            </a:solidFill>
            <a:ln w="0">
              <a:solidFill>
                <a:srgbClr val="c62828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4" name=""/>
            <p:cNvSpPr/>
            <p:nvPr/>
          </p:nvSpPr>
          <p:spPr>
            <a:xfrm>
              <a:off x="2057400" y="3561120"/>
              <a:ext cx="2165400" cy="781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4000" spc="-1" strike="noStrike">
                  <a:solidFill>
                    <a:srgbClr val="000000"/>
                  </a:solidFill>
                  <a:latin typeface="Noto Serif Condensed Medium"/>
                </a:rPr>
                <a:t>Headings</a:t>
              </a:r>
              <a:endParaRPr b="0" lang="en-US" sz="40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255" name="" descr=""/>
          <p:cNvPicPr/>
          <p:nvPr/>
        </p:nvPicPr>
        <p:blipFill>
          <a:blip r:embed="rId12"/>
          <a:stretch/>
        </p:blipFill>
        <p:spPr>
          <a:xfrm>
            <a:off x="1144080" y="4800600"/>
            <a:ext cx="7313040" cy="2970720"/>
          </a:xfrm>
          <a:prstGeom prst="rect">
            <a:avLst/>
          </a:prstGeom>
          <a:ln w="0">
            <a:noFill/>
          </a:ln>
        </p:spPr>
      </p:pic>
      <p:sp>
        <p:nvSpPr>
          <p:cNvPr id="256" name=""/>
          <p:cNvSpPr/>
          <p:nvPr/>
        </p:nvSpPr>
        <p:spPr>
          <a:xfrm>
            <a:off x="8458200" y="6172200"/>
            <a:ext cx="2266200" cy="358560"/>
          </a:xfrm>
          <a:prstGeom prst="rightArrow">
            <a:avLst>
              <a:gd name="adj1" fmla="val 50000"/>
              <a:gd name="adj2" fmla="val 157608"/>
            </a:avLst>
          </a:prstGeom>
          <a:solidFill>
            <a:srgbClr val="ffea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7" name="" descr=""/>
          <p:cNvPicPr/>
          <p:nvPr/>
        </p:nvPicPr>
        <p:blipFill>
          <a:blip r:embed="rId13"/>
          <a:stretch/>
        </p:blipFill>
        <p:spPr>
          <a:xfrm>
            <a:off x="10744200" y="4572000"/>
            <a:ext cx="5704920" cy="3427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8" dur="indefinite" restart="never" nodeType="tmRoot">
          <p:childTnLst>
            <p:seq>
              <p:cTn id="359" dur="indefinite" nodeType="mainSeq">
                <p:childTnLst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4" dur="10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5" dur="10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366"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nodeType="click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Bottom)" transition="in">
                                      <p:cBhvr additive="repl">
                                        <p:cTn id="371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nodeType="click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 transition="in">
                                      <p:cBhvr additive="repl">
                                        <p:cTn id="376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1" dur="8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86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Freeform 78"/>
          <p:cNvSpPr/>
          <p:nvPr/>
        </p:nvSpPr>
        <p:spPr>
          <a:xfrm>
            <a:off x="228600" y="9408600"/>
            <a:ext cx="7313040" cy="769320"/>
          </a:xfrm>
          <a:custGeom>
            <a:avLst/>
            <a:gdLst>
              <a:gd name="textAreaLeft" fmla="*/ 0 w 7313040"/>
              <a:gd name="textAreaRight" fmla="*/ 731520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2"/>
                </a:lnTo>
                <a:lnTo>
                  <a:pt x="0" y="7714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Freeform 79"/>
          <p:cNvSpPr/>
          <p:nvPr/>
        </p:nvSpPr>
        <p:spPr>
          <a:xfrm flipH="1">
            <a:off x="10971720" y="228600"/>
            <a:ext cx="7313040" cy="769320"/>
          </a:xfrm>
          <a:custGeom>
            <a:avLst/>
            <a:gdLst>
              <a:gd name="textAreaLeft" fmla="*/ -1080 w 7313040"/>
              <a:gd name="textAreaRight" fmla="*/ 731412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2"/>
                </a:lnTo>
                <a:lnTo>
                  <a:pt x="7315200" y="771422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Freeform 80"/>
          <p:cNvSpPr/>
          <p:nvPr/>
        </p:nvSpPr>
        <p:spPr>
          <a:xfrm>
            <a:off x="16460280" y="937260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Freeform 81"/>
          <p:cNvSpPr/>
          <p:nvPr/>
        </p:nvSpPr>
        <p:spPr>
          <a:xfrm flipV="1">
            <a:off x="-2054880" y="-228708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360 h 4112640"/>
              <a:gd name="textAreaBottom" fmla="*/ 411516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Freeform 82"/>
          <p:cNvSpPr/>
          <p:nvPr/>
        </p:nvSpPr>
        <p:spPr>
          <a:xfrm rot="16200000">
            <a:off x="-2017080" y="54082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3" name=""/>
          <p:cNvGrpSpPr/>
          <p:nvPr/>
        </p:nvGrpSpPr>
        <p:grpSpPr>
          <a:xfrm>
            <a:off x="6629400" y="1816200"/>
            <a:ext cx="5256720" cy="684720"/>
            <a:chOff x="6629400" y="1816200"/>
            <a:chExt cx="5256720" cy="684720"/>
          </a:xfrm>
        </p:grpSpPr>
        <p:sp>
          <p:nvSpPr>
            <p:cNvPr id="264" name=""/>
            <p:cNvSpPr/>
            <p:nvPr/>
          </p:nvSpPr>
          <p:spPr>
            <a:xfrm>
              <a:off x="6629400" y="1816200"/>
              <a:ext cx="4799520" cy="684720"/>
            </a:xfrm>
            <a:prstGeom prst="roundRect">
              <a:avLst>
                <a:gd name="adj" fmla="val 16667"/>
              </a:avLst>
            </a:prstGeom>
            <a:solidFill>
              <a:srgbClr val="512da8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5" name=""/>
            <p:cNvSpPr/>
            <p:nvPr/>
          </p:nvSpPr>
          <p:spPr>
            <a:xfrm>
              <a:off x="6629400" y="1816200"/>
              <a:ext cx="5256720" cy="68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4000" spc="-1" strike="noStrike">
                  <a:solidFill>
                    <a:srgbClr val="ffffff"/>
                  </a:solidFill>
                  <a:latin typeface="DejaVu Sans"/>
                </a:rPr>
                <a:t>Jupyter notebook</a:t>
              </a:r>
              <a:endParaRPr b="0" lang="en-US" sz="40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6" name=""/>
          <p:cNvGrpSpPr/>
          <p:nvPr/>
        </p:nvGrpSpPr>
        <p:grpSpPr>
          <a:xfrm>
            <a:off x="8229600" y="288000"/>
            <a:ext cx="1599120" cy="1370520"/>
            <a:chOff x="8229600" y="288000"/>
            <a:chExt cx="1599120" cy="1370520"/>
          </a:xfrm>
        </p:grpSpPr>
        <p:sp>
          <p:nvSpPr>
            <p:cNvPr id="267" name=""/>
            <p:cNvSpPr/>
            <p:nvPr/>
          </p:nvSpPr>
          <p:spPr>
            <a:xfrm>
              <a:off x="8229600" y="288000"/>
              <a:ext cx="1599120" cy="1370520"/>
            </a:xfrm>
            <a:prstGeom prst="rect">
              <a:avLst/>
            </a:prstGeom>
            <a:solidFill>
              <a:srgbClr val="fafafa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68" name="" descr=""/>
            <p:cNvPicPr/>
            <p:nvPr/>
          </p:nvPicPr>
          <p:blipFill>
            <a:blip r:embed="rId11"/>
            <a:stretch/>
          </p:blipFill>
          <p:spPr>
            <a:xfrm>
              <a:off x="8511480" y="485280"/>
              <a:ext cx="1162800" cy="10591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69" name=""/>
          <p:cNvGrpSpPr/>
          <p:nvPr/>
        </p:nvGrpSpPr>
        <p:grpSpPr>
          <a:xfrm>
            <a:off x="5257800" y="2707200"/>
            <a:ext cx="7314120" cy="720720"/>
            <a:chOff x="5257800" y="2707200"/>
            <a:chExt cx="7314120" cy="720720"/>
          </a:xfrm>
        </p:grpSpPr>
        <p:sp>
          <p:nvSpPr>
            <p:cNvPr id="270" name=""/>
            <p:cNvSpPr/>
            <p:nvPr/>
          </p:nvSpPr>
          <p:spPr>
            <a:xfrm>
              <a:off x="5257800" y="2707200"/>
              <a:ext cx="7314120" cy="720720"/>
            </a:xfrm>
            <a:prstGeom prst="roundRect">
              <a:avLst>
                <a:gd name="adj" fmla="val 16667"/>
              </a:avLst>
            </a:prstGeom>
            <a:solidFill>
              <a:srgbClr val="e53935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1" name=""/>
            <p:cNvSpPr/>
            <p:nvPr/>
          </p:nvSpPr>
          <p:spPr>
            <a:xfrm>
              <a:off x="5486400" y="2754720"/>
              <a:ext cx="6699240" cy="601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3600" spc="-1" strike="noStrike">
                  <a:solidFill>
                    <a:srgbClr val="ffffff"/>
                  </a:solidFill>
                  <a:latin typeface="Arial"/>
                </a:rPr>
                <a:t>Write a Professional </a:t>
              </a:r>
              <a:r>
                <a:rPr b="1" lang="en-US" sz="3600" spc="-1" strike="noStrike" u="sng">
                  <a:solidFill>
                    <a:srgbClr val="000000"/>
                  </a:solidFill>
                  <a:uFillTx/>
                  <a:latin typeface="Arial"/>
                </a:rPr>
                <a:t>MarkDown</a:t>
              </a:r>
              <a:endParaRPr b="0" lang="en-US" sz="36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72" name=""/>
          <p:cNvGrpSpPr/>
          <p:nvPr/>
        </p:nvGrpSpPr>
        <p:grpSpPr>
          <a:xfrm>
            <a:off x="1900800" y="3561120"/>
            <a:ext cx="3127320" cy="781200"/>
            <a:chOff x="1900800" y="3561120"/>
            <a:chExt cx="3127320" cy="781200"/>
          </a:xfrm>
        </p:grpSpPr>
        <p:sp>
          <p:nvSpPr>
            <p:cNvPr id="273" name=""/>
            <p:cNvSpPr/>
            <p:nvPr/>
          </p:nvSpPr>
          <p:spPr>
            <a:xfrm>
              <a:off x="1900800" y="3657600"/>
              <a:ext cx="3127320" cy="684720"/>
            </a:xfrm>
            <a:prstGeom prst="roundRect">
              <a:avLst>
                <a:gd name="adj" fmla="val 16667"/>
              </a:avLst>
            </a:prstGeom>
            <a:solidFill>
              <a:srgbClr val="ff6f00"/>
            </a:solidFill>
            <a:ln w="0">
              <a:solidFill>
                <a:srgbClr val="c62828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4" name=""/>
            <p:cNvSpPr/>
            <p:nvPr/>
          </p:nvSpPr>
          <p:spPr>
            <a:xfrm>
              <a:off x="2057400" y="3561120"/>
              <a:ext cx="2680560" cy="781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4000" spc="-1" strike="noStrike">
                  <a:solidFill>
                    <a:srgbClr val="000000"/>
                  </a:solidFill>
                  <a:latin typeface="Noto Serif Condensed Medium"/>
                </a:rPr>
                <a:t>Text Styling</a:t>
              </a:r>
              <a:endParaRPr b="0" lang="en-US" sz="40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75" name=""/>
          <p:cNvSpPr/>
          <p:nvPr/>
        </p:nvSpPr>
        <p:spPr>
          <a:xfrm>
            <a:off x="8458200" y="6172200"/>
            <a:ext cx="2266200" cy="358560"/>
          </a:xfrm>
          <a:prstGeom prst="rightArrow">
            <a:avLst>
              <a:gd name="adj1" fmla="val 50000"/>
              <a:gd name="adj2" fmla="val 157608"/>
            </a:avLst>
          </a:prstGeom>
          <a:solidFill>
            <a:srgbClr val="ffea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6" name="" descr=""/>
          <p:cNvPicPr/>
          <p:nvPr/>
        </p:nvPicPr>
        <p:blipFill>
          <a:blip r:embed="rId12"/>
          <a:stretch/>
        </p:blipFill>
        <p:spPr>
          <a:xfrm>
            <a:off x="1621080" y="4800600"/>
            <a:ext cx="6836040" cy="3199320"/>
          </a:xfrm>
          <a:prstGeom prst="rect">
            <a:avLst/>
          </a:prstGeom>
          <a:ln w="0">
            <a:noFill/>
          </a:ln>
        </p:spPr>
      </p:pic>
      <p:pic>
        <p:nvPicPr>
          <p:cNvPr id="277" name="" descr=""/>
          <p:cNvPicPr/>
          <p:nvPr/>
        </p:nvPicPr>
        <p:blipFill>
          <a:blip r:embed="rId13"/>
          <a:stretch/>
        </p:blipFill>
        <p:spPr>
          <a:xfrm>
            <a:off x="10765080" y="4800600"/>
            <a:ext cx="6836040" cy="3199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7" dur="indefinite" restart="never" nodeType="tmRoot">
          <p:childTnLst>
            <p:seq>
              <p:cTn id="388" dur="indefinite" nodeType="mainSeq">
                <p:childTnLst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93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398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3" dur="8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indefinite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408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Freeform 84"/>
          <p:cNvSpPr/>
          <p:nvPr/>
        </p:nvSpPr>
        <p:spPr>
          <a:xfrm flipH="1">
            <a:off x="10971720" y="228600"/>
            <a:ext cx="7313040" cy="769320"/>
          </a:xfrm>
          <a:custGeom>
            <a:avLst/>
            <a:gdLst>
              <a:gd name="textAreaLeft" fmla="*/ -1080 w 7313040"/>
              <a:gd name="textAreaRight" fmla="*/ 731412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2"/>
                </a:lnTo>
                <a:lnTo>
                  <a:pt x="7315200" y="771422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Freeform 85"/>
          <p:cNvSpPr/>
          <p:nvPr/>
        </p:nvSpPr>
        <p:spPr>
          <a:xfrm>
            <a:off x="16460280" y="937260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Freeform 86"/>
          <p:cNvSpPr/>
          <p:nvPr/>
        </p:nvSpPr>
        <p:spPr>
          <a:xfrm flipV="1">
            <a:off x="-2054880" y="-228708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360 h 4112640"/>
              <a:gd name="textAreaBottom" fmla="*/ 411516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Freeform 87"/>
          <p:cNvSpPr/>
          <p:nvPr/>
        </p:nvSpPr>
        <p:spPr>
          <a:xfrm rot="16200000">
            <a:off x="-2017080" y="54082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82" name=""/>
          <p:cNvGrpSpPr/>
          <p:nvPr/>
        </p:nvGrpSpPr>
        <p:grpSpPr>
          <a:xfrm>
            <a:off x="6629400" y="1816200"/>
            <a:ext cx="5256720" cy="684720"/>
            <a:chOff x="6629400" y="1816200"/>
            <a:chExt cx="5256720" cy="684720"/>
          </a:xfrm>
        </p:grpSpPr>
        <p:sp>
          <p:nvSpPr>
            <p:cNvPr id="283" name=""/>
            <p:cNvSpPr/>
            <p:nvPr/>
          </p:nvSpPr>
          <p:spPr>
            <a:xfrm>
              <a:off x="6629400" y="1816200"/>
              <a:ext cx="4799520" cy="684720"/>
            </a:xfrm>
            <a:prstGeom prst="roundRect">
              <a:avLst>
                <a:gd name="adj" fmla="val 16667"/>
              </a:avLst>
            </a:prstGeom>
            <a:solidFill>
              <a:srgbClr val="512da8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4" name=""/>
            <p:cNvSpPr/>
            <p:nvPr/>
          </p:nvSpPr>
          <p:spPr>
            <a:xfrm>
              <a:off x="6629400" y="1816200"/>
              <a:ext cx="5256720" cy="68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4000" spc="-1" strike="noStrike">
                  <a:solidFill>
                    <a:srgbClr val="ffffff"/>
                  </a:solidFill>
                  <a:latin typeface="DejaVu Sans"/>
                </a:rPr>
                <a:t>Jupyter notebook</a:t>
              </a:r>
              <a:endParaRPr b="0" lang="en-US" sz="40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85" name=""/>
          <p:cNvGrpSpPr/>
          <p:nvPr/>
        </p:nvGrpSpPr>
        <p:grpSpPr>
          <a:xfrm>
            <a:off x="8229600" y="288000"/>
            <a:ext cx="1599120" cy="1370520"/>
            <a:chOff x="8229600" y="288000"/>
            <a:chExt cx="1599120" cy="1370520"/>
          </a:xfrm>
        </p:grpSpPr>
        <p:sp>
          <p:nvSpPr>
            <p:cNvPr id="286" name=""/>
            <p:cNvSpPr/>
            <p:nvPr/>
          </p:nvSpPr>
          <p:spPr>
            <a:xfrm>
              <a:off x="8229600" y="288000"/>
              <a:ext cx="1599120" cy="1370520"/>
            </a:xfrm>
            <a:prstGeom prst="rect">
              <a:avLst/>
            </a:prstGeom>
            <a:solidFill>
              <a:srgbClr val="fafafa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87" name="" descr=""/>
            <p:cNvPicPr/>
            <p:nvPr/>
          </p:nvPicPr>
          <p:blipFill>
            <a:blip r:embed="rId9"/>
            <a:stretch/>
          </p:blipFill>
          <p:spPr>
            <a:xfrm>
              <a:off x="8511480" y="485280"/>
              <a:ext cx="1162800" cy="10591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88" name=""/>
          <p:cNvGrpSpPr/>
          <p:nvPr/>
        </p:nvGrpSpPr>
        <p:grpSpPr>
          <a:xfrm>
            <a:off x="5257800" y="2707200"/>
            <a:ext cx="7314120" cy="720720"/>
            <a:chOff x="5257800" y="2707200"/>
            <a:chExt cx="7314120" cy="720720"/>
          </a:xfrm>
        </p:grpSpPr>
        <p:sp>
          <p:nvSpPr>
            <p:cNvPr id="289" name=""/>
            <p:cNvSpPr/>
            <p:nvPr/>
          </p:nvSpPr>
          <p:spPr>
            <a:xfrm>
              <a:off x="5257800" y="2707200"/>
              <a:ext cx="7314120" cy="720720"/>
            </a:xfrm>
            <a:prstGeom prst="roundRect">
              <a:avLst>
                <a:gd name="adj" fmla="val 16667"/>
              </a:avLst>
            </a:prstGeom>
            <a:solidFill>
              <a:srgbClr val="e53935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0" name=""/>
            <p:cNvSpPr/>
            <p:nvPr/>
          </p:nvSpPr>
          <p:spPr>
            <a:xfrm>
              <a:off x="5486400" y="2754720"/>
              <a:ext cx="6699240" cy="601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3600" spc="-1" strike="noStrike">
                  <a:solidFill>
                    <a:srgbClr val="ffffff"/>
                  </a:solidFill>
                  <a:latin typeface="Arial"/>
                </a:rPr>
                <a:t>Write a Professional </a:t>
              </a:r>
              <a:r>
                <a:rPr b="1" lang="en-US" sz="3600" spc="-1" strike="noStrike" u="sng">
                  <a:solidFill>
                    <a:srgbClr val="000000"/>
                  </a:solidFill>
                  <a:uFillTx/>
                  <a:latin typeface="Arial"/>
                </a:rPr>
                <a:t>MarkDown</a:t>
              </a:r>
              <a:endParaRPr b="0" lang="en-US" sz="36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1" name=""/>
          <p:cNvGrpSpPr/>
          <p:nvPr/>
        </p:nvGrpSpPr>
        <p:grpSpPr>
          <a:xfrm>
            <a:off x="1900800" y="3561120"/>
            <a:ext cx="1984320" cy="781200"/>
            <a:chOff x="1900800" y="3561120"/>
            <a:chExt cx="1984320" cy="781200"/>
          </a:xfrm>
        </p:grpSpPr>
        <p:sp>
          <p:nvSpPr>
            <p:cNvPr id="292" name=""/>
            <p:cNvSpPr/>
            <p:nvPr/>
          </p:nvSpPr>
          <p:spPr>
            <a:xfrm>
              <a:off x="1900800" y="3657600"/>
              <a:ext cx="1984320" cy="684720"/>
            </a:xfrm>
            <a:prstGeom prst="roundRect">
              <a:avLst>
                <a:gd name="adj" fmla="val 16667"/>
              </a:avLst>
            </a:prstGeom>
            <a:solidFill>
              <a:srgbClr val="ff6f00"/>
            </a:solidFill>
            <a:ln w="0">
              <a:solidFill>
                <a:srgbClr val="c62828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3" name=""/>
            <p:cNvSpPr/>
            <p:nvPr/>
          </p:nvSpPr>
          <p:spPr>
            <a:xfrm>
              <a:off x="2057400" y="3561120"/>
              <a:ext cx="1167120" cy="781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4000" spc="-1" strike="noStrike">
                  <a:solidFill>
                    <a:srgbClr val="000000"/>
                  </a:solidFill>
                  <a:latin typeface="Noto Serif Condensed Medium"/>
                </a:rPr>
                <a:t>Lists</a:t>
              </a:r>
              <a:endParaRPr b="0" lang="en-US" sz="40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4" name=""/>
          <p:cNvGrpSpPr/>
          <p:nvPr/>
        </p:nvGrpSpPr>
        <p:grpSpPr>
          <a:xfrm>
            <a:off x="1841400" y="4451400"/>
            <a:ext cx="2585520" cy="686880"/>
            <a:chOff x="1841400" y="4451400"/>
            <a:chExt cx="2585520" cy="686880"/>
          </a:xfrm>
        </p:grpSpPr>
        <p:sp>
          <p:nvSpPr>
            <p:cNvPr id="295" name=""/>
            <p:cNvSpPr/>
            <p:nvPr/>
          </p:nvSpPr>
          <p:spPr>
            <a:xfrm>
              <a:off x="1841400" y="4451400"/>
              <a:ext cx="2513520" cy="686880"/>
            </a:xfrm>
            <a:prstGeom prst="roundRect">
              <a:avLst>
                <a:gd name="adj" fmla="val 16667"/>
              </a:avLst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6" name=""/>
            <p:cNvSpPr/>
            <p:nvPr/>
          </p:nvSpPr>
          <p:spPr>
            <a:xfrm>
              <a:off x="2091600" y="4572000"/>
              <a:ext cx="2335320" cy="45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Bulleted List</a:t>
              </a:r>
              <a:endParaRPr b="0" lang="en-US" sz="26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297" name="" descr=""/>
          <p:cNvPicPr/>
          <p:nvPr/>
        </p:nvPicPr>
        <p:blipFill>
          <a:blip r:embed="rId10"/>
          <a:stretch/>
        </p:blipFill>
        <p:spPr>
          <a:xfrm>
            <a:off x="1371600" y="5257800"/>
            <a:ext cx="5720040" cy="2234880"/>
          </a:xfrm>
          <a:prstGeom prst="rect">
            <a:avLst/>
          </a:prstGeom>
          <a:ln w="0">
            <a:noFill/>
          </a:ln>
        </p:spPr>
      </p:pic>
      <p:pic>
        <p:nvPicPr>
          <p:cNvPr id="298" name="" descr=""/>
          <p:cNvPicPr/>
          <p:nvPr/>
        </p:nvPicPr>
        <p:blipFill>
          <a:blip r:embed="rId11"/>
          <a:srcRect l="0" t="45448" r="0" b="0"/>
          <a:stretch/>
        </p:blipFill>
        <p:spPr>
          <a:xfrm>
            <a:off x="1215000" y="8458200"/>
            <a:ext cx="5942520" cy="1369080"/>
          </a:xfrm>
          <a:prstGeom prst="rect">
            <a:avLst/>
          </a:prstGeom>
          <a:ln w="0">
            <a:noFill/>
          </a:ln>
        </p:spPr>
      </p:pic>
      <p:sp>
        <p:nvSpPr>
          <p:cNvPr id="299" name=""/>
          <p:cNvSpPr/>
          <p:nvPr/>
        </p:nvSpPr>
        <p:spPr>
          <a:xfrm>
            <a:off x="4114800" y="7493760"/>
            <a:ext cx="358560" cy="963360"/>
          </a:xfrm>
          <a:prstGeom prst="downArrow">
            <a:avLst>
              <a:gd name="adj1" fmla="val 50000"/>
              <a:gd name="adj2" fmla="val 67042"/>
            </a:avLst>
          </a:prstGeom>
          <a:solidFill>
            <a:srgbClr val="fdd83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00" name=""/>
          <p:cNvGrpSpPr/>
          <p:nvPr/>
        </p:nvGrpSpPr>
        <p:grpSpPr>
          <a:xfrm>
            <a:off x="8915400" y="4341240"/>
            <a:ext cx="2742120" cy="686880"/>
            <a:chOff x="8915400" y="4341240"/>
            <a:chExt cx="2742120" cy="686880"/>
          </a:xfrm>
        </p:grpSpPr>
        <p:sp>
          <p:nvSpPr>
            <p:cNvPr id="301" name=""/>
            <p:cNvSpPr/>
            <p:nvPr/>
          </p:nvSpPr>
          <p:spPr>
            <a:xfrm>
              <a:off x="8915400" y="4341240"/>
              <a:ext cx="2665800" cy="686880"/>
            </a:xfrm>
            <a:prstGeom prst="roundRect">
              <a:avLst>
                <a:gd name="adj" fmla="val 16667"/>
              </a:avLst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2" name=""/>
            <p:cNvSpPr/>
            <p:nvPr/>
          </p:nvSpPr>
          <p:spPr>
            <a:xfrm>
              <a:off x="9180720" y="4461840"/>
              <a:ext cx="2476800" cy="45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Numbered List</a:t>
              </a:r>
              <a:endParaRPr b="0" lang="en-US" sz="26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303" name="" descr=""/>
          <p:cNvPicPr/>
          <p:nvPr/>
        </p:nvPicPr>
        <p:blipFill>
          <a:blip r:embed="rId12"/>
          <a:stretch/>
        </p:blipFill>
        <p:spPr>
          <a:xfrm>
            <a:off x="9372600" y="5257800"/>
            <a:ext cx="5256720" cy="2222280"/>
          </a:xfrm>
          <a:prstGeom prst="rect">
            <a:avLst/>
          </a:prstGeom>
          <a:ln w="0">
            <a:noFill/>
          </a:ln>
        </p:spPr>
      </p:pic>
      <p:pic>
        <p:nvPicPr>
          <p:cNvPr id="304" name="" descr=""/>
          <p:cNvPicPr/>
          <p:nvPr/>
        </p:nvPicPr>
        <p:blipFill>
          <a:blip r:embed="rId13"/>
          <a:srcRect l="0" t="30164" r="0" b="0"/>
          <a:stretch/>
        </p:blipFill>
        <p:spPr>
          <a:xfrm>
            <a:off x="9601200" y="8458200"/>
            <a:ext cx="5128920" cy="1513080"/>
          </a:xfrm>
          <a:prstGeom prst="rect">
            <a:avLst/>
          </a:prstGeom>
          <a:ln w="0">
            <a:noFill/>
          </a:ln>
        </p:spPr>
      </p:pic>
      <p:sp>
        <p:nvSpPr>
          <p:cNvPr id="305" name=""/>
          <p:cNvSpPr/>
          <p:nvPr/>
        </p:nvSpPr>
        <p:spPr>
          <a:xfrm>
            <a:off x="11887200" y="7481160"/>
            <a:ext cx="358560" cy="963360"/>
          </a:xfrm>
          <a:prstGeom prst="downArrow">
            <a:avLst>
              <a:gd name="adj1" fmla="val 50000"/>
              <a:gd name="adj2" fmla="val 67042"/>
            </a:avLst>
          </a:prstGeom>
          <a:solidFill>
            <a:srgbClr val="fdd83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09" dur="indefinite" restart="never" nodeType="tmRoot">
          <p:childTnLst>
            <p:seq>
              <p:cTn id="410" dur="indefinite" nodeType="mainSeq">
                <p:childTnLst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19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24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429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indefinite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indefinite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438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443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indefinite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>
                      <p:stCondLst>
                        <p:cond delay="indefinite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452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Freeform 83"/>
          <p:cNvSpPr/>
          <p:nvPr/>
        </p:nvSpPr>
        <p:spPr>
          <a:xfrm flipH="1">
            <a:off x="10971720" y="228600"/>
            <a:ext cx="7313040" cy="769320"/>
          </a:xfrm>
          <a:custGeom>
            <a:avLst/>
            <a:gdLst>
              <a:gd name="textAreaLeft" fmla="*/ -1080 w 7313040"/>
              <a:gd name="textAreaRight" fmla="*/ 731412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2"/>
                </a:lnTo>
                <a:lnTo>
                  <a:pt x="7315200" y="771422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Freeform 88"/>
          <p:cNvSpPr/>
          <p:nvPr/>
        </p:nvSpPr>
        <p:spPr>
          <a:xfrm>
            <a:off x="16460280" y="937260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Freeform 89"/>
          <p:cNvSpPr/>
          <p:nvPr/>
        </p:nvSpPr>
        <p:spPr>
          <a:xfrm flipV="1">
            <a:off x="-2054880" y="-228708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360 h 4112640"/>
              <a:gd name="textAreaBottom" fmla="*/ 411516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Freeform 90"/>
          <p:cNvSpPr/>
          <p:nvPr/>
        </p:nvSpPr>
        <p:spPr>
          <a:xfrm rot="16200000">
            <a:off x="-2017080" y="54082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10" name=""/>
          <p:cNvGrpSpPr/>
          <p:nvPr/>
        </p:nvGrpSpPr>
        <p:grpSpPr>
          <a:xfrm>
            <a:off x="6629400" y="1816200"/>
            <a:ext cx="5256720" cy="684720"/>
            <a:chOff x="6629400" y="1816200"/>
            <a:chExt cx="5256720" cy="684720"/>
          </a:xfrm>
        </p:grpSpPr>
        <p:sp>
          <p:nvSpPr>
            <p:cNvPr id="311" name=""/>
            <p:cNvSpPr/>
            <p:nvPr/>
          </p:nvSpPr>
          <p:spPr>
            <a:xfrm>
              <a:off x="6629400" y="1816200"/>
              <a:ext cx="4799520" cy="684720"/>
            </a:xfrm>
            <a:prstGeom prst="roundRect">
              <a:avLst>
                <a:gd name="adj" fmla="val 16667"/>
              </a:avLst>
            </a:prstGeom>
            <a:solidFill>
              <a:srgbClr val="512da8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2" name=""/>
            <p:cNvSpPr/>
            <p:nvPr/>
          </p:nvSpPr>
          <p:spPr>
            <a:xfrm>
              <a:off x="6629400" y="1816200"/>
              <a:ext cx="5256720" cy="68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4000" spc="-1" strike="noStrike">
                  <a:solidFill>
                    <a:srgbClr val="ffffff"/>
                  </a:solidFill>
                  <a:latin typeface="DejaVu Sans"/>
                </a:rPr>
                <a:t>Jupyter notebook</a:t>
              </a:r>
              <a:endParaRPr b="0" lang="en-US" sz="40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3" name=""/>
          <p:cNvGrpSpPr/>
          <p:nvPr/>
        </p:nvGrpSpPr>
        <p:grpSpPr>
          <a:xfrm>
            <a:off x="8229600" y="288000"/>
            <a:ext cx="1599120" cy="1370520"/>
            <a:chOff x="8229600" y="288000"/>
            <a:chExt cx="1599120" cy="1370520"/>
          </a:xfrm>
        </p:grpSpPr>
        <p:sp>
          <p:nvSpPr>
            <p:cNvPr id="314" name=""/>
            <p:cNvSpPr/>
            <p:nvPr/>
          </p:nvSpPr>
          <p:spPr>
            <a:xfrm>
              <a:off x="8229600" y="288000"/>
              <a:ext cx="1599120" cy="1370520"/>
            </a:xfrm>
            <a:prstGeom prst="rect">
              <a:avLst/>
            </a:prstGeom>
            <a:solidFill>
              <a:srgbClr val="fafafa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15" name="" descr=""/>
            <p:cNvPicPr/>
            <p:nvPr/>
          </p:nvPicPr>
          <p:blipFill>
            <a:blip r:embed="rId9"/>
            <a:stretch/>
          </p:blipFill>
          <p:spPr>
            <a:xfrm>
              <a:off x="8511480" y="485280"/>
              <a:ext cx="1162800" cy="10591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316" name=""/>
          <p:cNvGrpSpPr/>
          <p:nvPr/>
        </p:nvGrpSpPr>
        <p:grpSpPr>
          <a:xfrm>
            <a:off x="5257800" y="2707200"/>
            <a:ext cx="7314120" cy="720720"/>
            <a:chOff x="5257800" y="2707200"/>
            <a:chExt cx="7314120" cy="720720"/>
          </a:xfrm>
        </p:grpSpPr>
        <p:sp>
          <p:nvSpPr>
            <p:cNvPr id="317" name=""/>
            <p:cNvSpPr/>
            <p:nvPr/>
          </p:nvSpPr>
          <p:spPr>
            <a:xfrm>
              <a:off x="5257800" y="2707200"/>
              <a:ext cx="7314120" cy="720720"/>
            </a:xfrm>
            <a:prstGeom prst="roundRect">
              <a:avLst>
                <a:gd name="adj" fmla="val 16667"/>
              </a:avLst>
            </a:prstGeom>
            <a:solidFill>
              <a:srgbClr val="e53935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8" name=""/>
            <p:cNvSpPr/>
            <p:nvPr/>
          </p:nvSpPr>
          <p:spPr>
            <a:xfrm>
              <a:off x="5486400" y="2754720"/>
              <a:ext cx="6699240" cy="601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3600" spc="-1" strike="noStrike">
                  <a:solidFill>
                    <a:srgbClr val="ffffff"/>
                  </a:solidFill>
                  <a:latin typeface="Arial"/>
                </a:rPr>
                <a:t>Write a Professional </a:t>
              </a:r>
              <a:r>
                <a:rPr b="1" lang="en-US" sz="3600" spc="-1" strike="noStrike" u="sng">
                  <a:solidFill>
                    <a:srgbClr val="000000"/>
                  </a:solidFill>
                  <a:uFillTx/>
                  <a:latin typeface="Arial"/>
                </a:rPr>
                <a:t>MarkDown</a:t>
              </a:r>
              <a:endParaRPr b="0" lang="en-US" sz="36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9" name=""/>
          <p:cNvGrpSpPr/>
          <p:nvPr/>
        </p:nvGrpSpPr>
        <p:grpSpPr>
          <a:xfrm>
            <a:off x="1900800" y="3561120"/>
            <a:ext cx="3584520" cy="781200"/>
            <a:chOff x="1900800" y="3561120"/>
            <a:chExt cx="3584520" cy="781200"/>
          </a:xfrm>
        </p:grpSpPr>
        <p:sp>
          <p:nvSpPr>
            <p:cNvPr id="320" name=""/>
            <p:cNvSpPr/>
            <p:nvPr/>
          </p:nvSpPr>
          <p:spPr>
            <a:xfrm>
              <a:off x="1900800" y="3657600"/>
              <a:ext cx="3584520" cy="684720"/>
            </a:xfrm>
            <a:prstGeom prst="roundRect">
              <a:avLst>
                <a:gd name="adj" fmla="val 16667"/>
              </a:avLst>
            </a:prstGeom>
            <a:solidFill>
              <a:srgbClr val="ff6f00"/>
            </a:solidFill>
            <a:ln w="0">
              <a:solidFill>
                <a:srgbClr val="c62828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1" name=""/>
            <p:cNvSpPr/>
            <p:nvPr/>
          </p:nvSpPr>
          <p:spPr>
            <a:xfrm>
              <a:off x="2057400" y="3561120"/>
              <a:ext cx="3168360" cy="781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4000" spc="-1" strike="noStrike">
                  <a:solidFill>
                    <a:srgbClr val="000000"/>
                  </a:solidFill>
                  <a:latin typeface="Noto Serif Condensed Medium"/>
                </a:rPr>
                <a:t>Code Snippets</a:t>
              </a:r>
              <a:endParaRPr b="0" lang="en-US" sz="40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22" name=""/>
          <p:cNvGrpSpPr/>
          <p:nvPr/>
        </p:nvGrpSpPr>
        <p:grpSpPr>
          <a:xfrm>
            <a:off x="11214000" y="4572000"/>
            <a:ext cx="6615720" cy="913320"/>
            <a:chOff x="11214000" y="4572000"/>
            <a:chExt cx="6615720" cy="913320"/>
          </a:xfrm>
        </p:grpSpPr>
        <p:grpSp>
          <p:nvGrpSpPr>
            <p:cNvPr id="323" name=""/>
            <p:cNvGrpSpPr/>
            <p:nvPr/>
          </p:nvGrpSpPr>
          <p:grpSpPr>
            <a:xfrm>
              <a:off x="11214000" y="4572000"/>
              <a:ext cx="6615720" cy="913320"/>
              <a:chOff x="11214000" y="4572000"/>
              <a:chExt cx="6615720" cy="913320"/>
            </a:xfrm>
          </p:grpSpPr>
          <p:sp>
            <p:nvSpPr>
              <p:cNvPr id="324" name=""/>
              <p:cNvSpPr/>
              <p:nvPr/>
            </p:nvSpPr>
            <p:spPr>
              <a:xfrm>
                <a:off x="11214000" y="4572000"/>
                <a:ext cx="6615720" cy="913320"/>
              </a:xfrm>
              <a:prstGeom prst="roundRect">
                <a:avLst>
                  <a:gd name="adj" fmla="val 16667"/>
                </a:avLst>
              </a:prstGeom>
              <a:solidFill>
                <a:srgbClr val="fafafa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5" name=""/>
              <p:cNvSpPr/>
              <p:nvPr/>
            </p:nvSpPr>
            <p:spPr>
              <a:xfrm>
                <a:off x="11214000" y="4635720"/>
                <a:ext cx="6399720" cy="84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algn="r" rtl="1">
                  <a:lnSpc>
                    <a:spcPct val="100000"/>
                  </a:lnSpc>
                  <a:spcBef>
                    <a:spcPts val="1191"/>
                  </a:spcBef>
                  <a:spcAft>
                    <a:spcPts val="992"/>
                  </a:spcAft>
                </a:pPr>
                <a:r>
                  <a:rPr b="0" lang="hi-IN" sz="2600" spc="-1" strike="noStrike">
                    <a:solidFill>
                      <a:srgbClr val="000000"/>
                    </a:solidFill>
                    <a:latin typeface="Cairo"/>
                    <a:cs typeface="Cairo"/>
                  </a:rPr>
                  <a:t>أحياناً نحتاج لكتابة كود للشرح فقط دون تنفيذه</a:t>
                </a:r>
                <a:endParaRPr b="0" lang="en-US" sz="26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grpSp>
        <p:nvGrpSpPr>
          <p:cNvPr id="326" name=""/>
          <p:cNvGrpSpPr/>
          <p:nvPr/>
        </p:nvGrpSpPr>
        <p:grpSpPr>
          <a:xfrm>
            <a:off x="9336600" y="5715000"/>
            <a:ext cx="8493120" cy="1599120"/>
            <a:chOff x="9336600" y="5715000"/>
            <a:chExt cx="8493120" cy="1599120"/>
          </a:xfrm>
        </p:grpSpPr>
        <p:sp>
          <p:nvSpPr>
            <p:cNvPr id="327" name=""/>
            <p:cNvSpPr/>
            <p:nvPr/>
          </p:nvSpPr>
          <p:spPr>
            <a:xfrm>
              <a:off x="10058400" y="5715000"/>
              <a:ext cx="7771320" cy="1599120"/>
            </a:xfrm>
            <a:prstGeom prst="roundRect">
              <a:avLst>
                <a:gd name="adj" fmla="val 16667"/>
              </a:avLst>
            </a:prstGeom>
            <a:solidFill>
              <a:srgbClr val="fafafa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8" name=""/>
            <p:cNvSpPr/>
            <p:nvPr/>
          </p:nvSpPr>
          <p:spPr>
            <a:xfrm>
              <a:off x="9336600" y="5715000"/>
              <a:ext cx="8457120" cy="137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rtl="1">
                <a:lnSpc>
                  <a:spcPct val="100000"/>
                </a:lnSpc>
              </a:pPr>
              <a:r>
                <a:rPr b="0" lang="hi-IN" sz="2600" spc="-1" strike="noStrike">
                  <a:solidFill>
                    <a:srgbClr val="000000"/>
                  </a:solidFill>
                  <a:latin typeface="Cairo"/>
                  <a:cs typeface="Cairo"/>
                </a:rPr>
                <a:t>للكلمات البسيطة: نستخدم الـ </a:t>
              </a:r>
              <a:r>
                <a:rPr b="0" lang="en-US" sz="2600" spc="-1" strike="noStrike">
                  <a:solidFill>
                    <a:srgbClr val="000000"/>
                  </a:solidFill>
                  <a:latin typeface="Cairo"/>
                </a:rPr>
                <a:t>Backtick</a:t>
              </a:r>
              <a:r>
                <a:rPr b="0" lang="en-US" sz="2600" spc="-1" strike="noStrike">
                  <a:solidFill>
                    <a:srgbClr val="000000"/>
                  </a:solidFill>
                  <a:latin typeface="Cairo"/>
                </a:rPr>
                <a:t>  `     `</a:t>
              </a:r>
              <a:endParaRPr b="0" lang="en-US" sz="2600" spc="-1" strike="noStrike">
                <a:solidFill>
                  <a:srgbClr val="ffffff"/>
                </a:solidFill>
                <a:latin typeface="Arial"/>
              </a:endParaRPr>
            </a:p>
            <a:p>
              <a:pPr algn="r" rtl="1">
                <a:lnSpc>
                  <a:spcPct val="100000"/>
                </a:lnSpc>
              </a:pPr>
              <a:r>
                <a:rPr b="0" lang="hi-IN" sz="2600" spc="-1" strike="noStrike">
                  <a:solidFill>
                    <a:srgbClr val="000000"/>
                  </a:solidFill>
                  <a:latin typeface="Cairo"/>
                  <a:cs typeface="Cairo"/>
                </a:rPr>
                <a:t>كود كامل: نستخدم ثلاث علامات </a:t>
              </a:r>
              <a:r>
                <a:rPr b="0" lang="en-US" sz="2600" spc="-1" strike="noStrike">
                  <a:solidFill>
                    <a:srgbClr val="000000"/>
                  </a:solidFill>
                  <a:latin typeface="Cairo"/>
                </a:rPr>
                <a:t>Backtick</a:t>
              </a:r>
              <a:r>
                <a:rPr b="0" lang="en-US" sz="2600" spc="-1" strike="noStrike">
                  <a:solidFill>
                    <a:srgbClr val="000000"/>
                  </a:solidFill>
                  <a:latin typeface="Cairo"/>
                </a:rPr>
                <a:t> مع اسم اللغة</a:t>
              </a:r>
              <a:endParaRPr b="0" lang="en-US" sz="26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329" name="" descr=""/>
          <p:cNvPicPr/>
          <p:nvPr/>
        </p:nvPicPr>
        <p:blipFill>
          <a:blip r:embed="rId10"/>
          <a:stretch/>
        </p:blipFill>
        <p:spPr>
          <a:xfrm>
            <a:off x="2229120" y="4572000"/>
            <a:ext cx="5313600" cy="2737800"/>
          </a:xfrm>
          <a:prstGeom prst="rect">
            <a:avLst/>
          </a:prstGeom>
          <a:ln w="0">
            <a:noFill/>
          </a:ln>
        </p:spPr>
      </p:pic>
      <p:pic>
        <p:nvPicPr>
          <p:cNvPr id="330" name="" descr=""/>
          <p:cNvPicPr/>
          <p:nvPr/>
        </p:nvPicPr>
        <p:blipFill>
          <a:blip r:embed="rId11"/>
          <a:stretch/>
        </p:blipFill>
        <p:spPr>
          <a:xfrm>
            <a:off x="2514600" y="7961040"/>
            <a:ext cx="4570920" cy="1965960"/>
          </a:xfrm>
          <a:prstGeom prst="rect">
            <a:avLst/>
          </a:prstGeom>
          <a:ln w="0">
            <a:noFill/>
          </a:ln>
        </p:spPr>
      </p:pic>
      <p:sp>
        <p:nvSpPr>
          <p:cNvPr id="331" name=""/>
          <p:cNvSpPr/>
          <p:nvPr/>
        </p:nvSpPr>
        <p:spPr>
          <a:xfrm flipH="1">
            <a:off x="4570920" y="7310880"/>
            <a:ext cx="227520" cy="649080"/>
          </a:xfrm>
          <a:prstGeom prst="downArrow">
            <a:avLst>
              <a:gd name="adj1" fmla="val 50000"/>
              <a:gd name="adj2" fmla="val 71102"/>
            </a:avLst>
          </a:prstGeom>
          <a:solidFill>
            <a:srgbClr val="ffea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2" name=""/>
          <p:cNvGrpSpPr/>
          <p:nvPr/>
        </p:nvGrpSpPr>
        <p:grpSpPr>
          <a:xfrm>
            <a:off x="9108000" y="7772400"/>
            <a:ext cx="8493120" cy="1599120"/>
            <a:chOff x="9108000" y="7772400"/>
            <a:chExt cx="8493120" cy="1599120"/>
          </a:xfrm>
        </p:grpSpPr>
        <p:sp>
          <p:nvSpPr>
            <p:cNvPr id="333" name=""/>
            <p:cNvSpPr/>
            <p:nvPr/>
          </p:nvSpPr>
          <p:spPr>
            <a:xfrm>
              <a:off x="10744200" y="7772400"/>
              <a:ext cx="6856920" cy="1599120"/>
            </a:xfrm>
            <a:prstGeom prst="roundRect">
              <a:avLst>
                <a:gd name="adj" fmla="val 16667"/>
              </a:avLst>
            </a:prstGeom>
            <a:solidFill>
              <a:srgbClr val="fafafa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4" name=""/>
            <p:cNvSpPr/>
            <p:nvPr/>
          </p:nvSpPr>
          <p:spPr>
            <a:xfrm>
              <a:off x="9108000" y="7772400"/>
              <a:ext cx="8457120" cy="137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rtl="1">
                <a:lnSpc>
                  <a:spcPct val="100000"/>
                </a:lnSpc>
              </a:pPr>
              <a:r>
                <a:rPr b="0" lang="hi-IN" sz="2600" spc="-1" strike="noStrike">
                  <a:solidFill>
                    <a:srgbClr val="000000"/>
                  </a:solidFill>
                  <a:latin typeface="Cairo"/>
                  <a:cs typeface="Cairo"/>
                </a:rPr>
                <a:t>علامة ال </a:t>
              </a:r>
              <a:r>
                <a:rPr b="0" lang="en-US" sz="2600" spc="-1" strike="noStrike">
                  <a:solidFill>
                    <a:srgbClr val="000000"/>
                  </a:solidFill>
                  <a:latin typeface="Cairo"/>
                </a:rPr>
                <a:t>backtick</a:t>
              </a:r>
              <a:r>
                <a:rPr b="0" lang="en-US" sz="2600" spc="-1" strike="noStrike">
                  <a:solidFill>
                    <a:srgbClr val="000000"/>
                  </a:solidFill>
                  <a:latin typeface="Cairo"/>
                </a:rPr>
                <a:t> ` `  حرف حرف ال ذ في الكيبورد</a:t>
              </a:r>
              <a:br>
                <a:rPr sz="2600"/>
              </a:br>
              <a:r>
                <a:rPr b="0" lang="hi-IN" sz="2600" spc="-1" strike="noStrike">
                  <a:solidFill>
                    <a:srgbClr val="000000"/>
                  </a:solidFill>
                  <a:latin typeface="Cairo"/>
                  <a:cs typeface="Cairo"/>
                </a:rPr>
                <a:t>الزر اسفل ال </a:t>
              </a:r>
              <a:r>
                <a:rPr b="0" lang="en-US" sz="2600" spc="-1" strike="noStrike">
                  <a:solidFill>
                    <a:srgbClr val="000000"/>
                  </a:solidFill>
                  <a:latin typeface="Cairo"/>
                </a:rPr>
                <a:t>esc</a:t>
              </a:r>
              <a:r>
                <a:rPr b="0" lang="en-US" sz="2600" spc="-1" strike="noStrike">
                  <a:solidFill>
                    <a:srgbClr val="000000"/>
                  </a:solidFill>
                  <a:latin typeface="Cairo"/>
                </a:rPr>
                <a:t> </a:t>
              </a:r>
              <a:endParaRPr b="0" lang="en-US" sz="26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53" dur="indefinite" restart="never" nodeType="tmRoot">
          <p:childTnLst>
            <p:seq>
              <p:cTn id="454" dur="indefinite" nodeType="mainSeq">
                <p:childTnLst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459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0" fill="hold">
                      <p:stCondLst>
                        <p:cond delay="indefinite"/>
                      </p:stCondLst>
                      <p:childTnLst>
                        <p:par>
                          <p:cTn id="461" fill="hold">
                            <p:stCondLst>
                              <p:cond delay="0"/>
                            </p:stCondLst>
                            <p:childTnLst>
                              <p:par>
                                <p:cTn id="462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64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469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0" fill="hold">
                      <p:stCondLst>
                        <p:cond delay="indefinite"/>
                      </p:stCondLst>
                      <p:childTnLst>
                        <p:par>
                          <p:cTn id="471" fill="hold">
                            <p:stCondLst>
                              <p:cond delay="0"/>
                            </p:stCondLst>
                            <p:childTnLst>
                              <p:par>
                                <p:cTn id="472" nodeType="click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Bottom)" transition="in">
                                      <p:cBhvr additive="repl">
                                        <p:cTn id="474" dur="125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nodeType="click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Bottom)" transition="in">
                                      <p:cBhvr additive="repl">
                                        <p:cTn id="479" dur="125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0" fill="hold">
                      <p:stCondLst>
                        <p:cond delay="indefinite"/>
                      </p:stCondLst>
                      <p:childTnLst>
                        <p:par>
                          <p:cTn id="481" fill="hold">
                            <p:stCondLst>
                              <p:cond delay="0"/>
                            </p:stCondLst>
                            <p:childTnLst>
                              <p:par>
                                <p:cTn id="482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484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5" fill="hold">
                      <p:stCondLst>
                        <p:cond delay="indefinite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489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Freeform 91"/>
          <p:cNvSpPr/>
          <p:nvPr/>
        </p:nvSpPr>
        <p:spPr>
          <a:xfrm flipH="1">
            <a:off x="10971720" y="228600"/>
            <a:ext cx="7313040" cy="769320"/>
          </a:xfrm>
          <a:custGeom>
            <a:avLst/>
            <a:gdLst>
              <a:gd name="textAreaLeft" fmla="*/ -1080 w 7313040"/>
              <a:gd name="textAreaRight" fmla="*/ 731412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2"/>
                </a:lnTo>
                <a:lnTo>
                  <a:pt x="7315200" y="771422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Freeform 92"/>
          <p:cNvSpPr/>
          <p:nvPr/>
        </p:nvSpPr>
        <p:spPr>
          <a:xfrm>
            <a:off x="16460280" y="937260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Freeform 93"/>
          <p:cNvSpPr/>
          <p:nvPr/>
        </p:nvSpPr>
        <p:spPr>
          <a:xfrm flipV="1">
            <a:off x="-2054880" y="-228708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360 h 4112640"/>
              <a:gd name="textAreaBottom" fmla="*/ 411516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Freeform 94"/>
          <p:cNvSpPr/>
          <p:nvPr/>
        </p:nvSpPr>
        <p:spPr>
          <a:xfrm rot="16200000">
            <a:off x="-2017080" y="54082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9" name=""/>
          <p:cNvGrpSpPr/>
          <p:nvPr/>
        </p:nvGrpSpPr>
        <p:grpSpPr>
          <a:xfrm>
            <a:off x="6629400" y="1816200"/>
            <a:ext cx="5256720" cy="684720"/>
            <a:chOff x="6629400" y="1816200"/>
            <a:chExt cx="5256720" cy="684720"/>
          </a:xfrm>
        </p:grpSpPr>
        <p:sp>
          <p:nvSpPr>
            <p:cNvPr id="340" name=""/>
            <p:cNvSpPr/>
            <p:nvPr/>
          </p:nvSpPr>
          <p:spPr>
            <a:xfrm>
              <a:off x="6629400" y="1816200"/>
              <a:ext cx="4799520" cy="684720"/>
            </a:xfrm>
            <a:prstGeom prst="roundRect">
              <a:avLst>
                <a:gd name="adj" fmla="val 16667"/>
              </a:avLst>
            </a:prstGeom>
            <a:solidFill>
              <a:srgbClr val="512da8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1" name=""/>
            <p:cNvSpPr/>
            <p:nvPr/>
          </p:nvSpPr>
          <p:spPr>
            <a:xfrm>
              <a:off x="6629400" y="1816200"/>
              <a:ext cx="5256720" cy="68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4000" spc="-1" strike="noStrike">
                  <a:solidFill>
                    <a:srgbClr val="ffffff"/>
                  </a:solidFill>
                  <a:latin typeface="DejaVu Sans"/>
                </a:rPr>
                <a:t>Jupyter notebook</a:t>
              </a:r>
              <a:endParaRPr b="0" lang="en-US" sz="40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42" name=""/>
          <p:cNvGrpSpPr/>
          <p:nvPr/>
        </p:nvGrpSpPr>
        <p:grpSpPr>
          <a:xfrm>
            <a:off x="8229600" y="288000"/>
            <a:ext cx="1599120" cy="1370520"/>
            <a:chOff x="8229600" y="288000"/>
            <a:chExt cx="1599120" cy="1370520"/>
          </a:xfrm>
        </p:grpSpPr>
        <p:sp>
          <p:nvSpPr>
            <p:cNvPr id="343" name=""/>
            <p:cNvSpPr/>
            <p:nvPr/>
          </p:nvSpPr>
          <p:spPr>
            <a:xfrm>
              <a:off x="8229600" y="288000"/>
              <a:ext cx="1599120" cy="1370520"/>
            </a:xfrm>
            <a:prstGeom prst="rect">
              <a:avLst/>
            </a:prstGeom>
            <a:solidFill>
              <a:srgbClr val="fafafa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44" name="" descr=""/>
            <p:cNvPicPr/>
            <p:nvPr/>
          </p:nvPicPr>
          <p:blipFill>
            <a:blip r:embed="rId9"/>
            <a:stretch/>
          </p:blipFill>
          <p:spPr>
            <a:xfrm>
              <a:off x="8511480" y="485280"/>
              <a:ext cx="1162800" cy="10591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345" name=""/>
          <p:cNvGrpSpPr/>
          <p:nvPr/>
        </p:nvGrpSpPr>
        <p:grpSpPr>
          <a:xfrm>
            <a:off x="5257800" y="2707200"/>
            <a:ext cx="7314120" cy="720720"/>
            <a:chOff x="5257800" y="2707200"/>
            <a:chExt cx="7314120" cy="720720"/>
          </a:xfrm>
        </p:grpSpPr>
        <p:sp>
          <p:nvSpPr>
            <p:cNvPr id="346" name=""/>
            <p:cNvSpPr/>
            <p:nvPr/>
          </p:nvSpPr>
          <p:spPr>
            <a:xfrm>
              <a:off x="5257800" y="2707200"/>
              <a:ext cx="7314120" cy="720720"/>
            </a:xfrm>
            <a:prstGeom prst="roundRect">
              <a:avLst>
                <a:gd name="adj" fmla="val 16667"/>
              </a:avLst>
            </a:prstGeom>
            <a:solidFill>
              <a:srgbClr val="e53935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7" name=""/>
            <p:cNvSpPr/>
            <p:nvPr/>
          </p:nvSpPr>
          <p:spPr>
            <a:xfrm>
              <a:off x="5486400" y="2754720"/>
              <a:ext cx="6699240" cy="601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3600" spc="-1" strike="noStrike">
                  <a:solidFill>
                    <a:srgbClr val="ffffff"/>
                  </a:solidFill>
                  <a:latin typeface="Arial"/>
                </a:rPr>
                <a:t>Write a Professional </a:t>
              </a:r>
              <a:r>
                <a:rPr b="1" lang="en-US" sz="3600" spc="-1" strike="noStrike" u="sng">
                  <a:solidFill>
                    <a:srgbClr val="000000"/>
                  </a:solidFill>
                  <a:uFillTx/>
                  <a:latin typeface="Arial"/>
                </a:rPr>
                <a:t>MarkDown</a:t>
              </a:r>
              <a:endParaRPr b="0" lang="en-US" sz="36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48" name=""/>
          <p:cNvGrpSpPr/>
          <p:nvPr/>
        </p:nvGrpSpPr>
        <p:grpSpPr>
          <a:xfrm>
            <a:off x="1900800" y="3561120"/>
            <a:ext cx="4270320" cy="1473120"/>
            <a:chOff x="1900800" y="3561120"/>
            <a:chExt cx="4270320" cy="1473120"/>
          </a:xfrm>
        </p:grpSpPr>
        <p:sp>
          <p:nvSpPr>
            <p:cNvPr id="349" name=""/>
            <p:cNvSpPr/>
            <p:nvPr/>
          </p:nvSpPr>
          <p:spPr>
            <a:xfrm>
              <a:off x="1900800" y="3657600"/>
              <a:ext cx="4270320" cy="684720"/>
            </a:xfrm>
            <a:prstGeom prst="roundRect">
              <a:avLst>
                <a:gd name="adj" fmla="val 16667"/>
              </a:avLst>
            </a:prstGeom>
            <a:solidFill>
              <a:srgbClr val="ff6f00"/>
            </a:solidFill>
            <a:ln w="0">
              <a:solidFill>
                <a:srgbClr val="c62828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0" name=""/>
            <p:cNvSpPr/>
            <p:nvPr/>
          </p:nvSpPr>
          <p:spPr>
            <a:xfrm>
              <a:off x="2117160" y="3561120"/>
              <a:ext cx="3825360" cy="147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4000" spc="-1" strike="noStrike">
                  <a:solidFill>
                    <a:srgbClr val="000000"/>
                  </a:solidFill>
                  <a:latin typeface="Noto Serif Condensed Medium"/>
                </a:rPr>
                <a:t>Links &amp; Images</a:t>
              </a:r>
              <a:endParaRPr b="0" lang="en-US" sz="40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1" name=""/>
          <p:cNvGrpSpPr/>
          <p:nvPr/>
        </p:nvGrpSpPr>
        <p:grpSpPr>
          <a:xfrm>
            <a:off x="11201400" y="3657600"/>
            <a:ext cx="6856920" cy="1391040"/>
            <a:chOff x="11201400" y="3657600"/>
            <a:chExt cx="6856920" cy="1391040"/>
          </a:xfrm>
        </p:grpSpPr>
        <p:sp>
          <p:nvSpPr>
            <p:cNvPr id="352" name=""/>
            <p:cNvSpPr/>
            <p:nvPr/>
          </p:nvSpPr>
          <p:spPr>
            <a:xfrm>
              <a:off x="11784240" y="3657600"/>
              <a:ext cx="6274080" cy="1391040"/>
            </a:xfrm>
            <a:prstGeom prst="roundRect">
              <a:avLst>
                <a:gd name="adj" fmla="val 16667"/>
              </a:avLst>
            </a:prstGeom>
            <a:solidFill>
              <a:srgbClr val="fafafa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3" name=""/>
            <p:cNvSpPr/>
            <p:nvPr/>
          </p:nvSpPr>
          <p:spPr>
            <a:xfrm>
              <a:off x="11201400" y="3657600"/>
              <a:ext cx="6827760" cy="133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rtl="1">
                <a:lnSpc>
                  <a:spcPct val="100000"/>
                </a:lnSpc>
                <a:spcBef>
                  <a:spcPts val="57"/>
                </a:spcBef>
              </a:pPr>
              <a:r>
                <a:rPr b="1" lang="hi-IN" sz="2600" spc="-1" strike="noStrike">
                  <a:solidFill>
                    <a:srgbClr val="b71c1c"/>
                  </a:solidFill>
                  <a:latin typeface="Cairo"/>
                  <a:cs typeface="Cairo"/>
                </a:rPr>
                <a:t>رابط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  <a:ea typeface="Noto Sans CJK SC"/>
                </a:rPr>
                <a:t>: (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  <a:ea typeface="Noto Sans CJK SC"/>
                </a:rPr>
                <a:t>URL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  <a:ea typeface="Noto Sans CJK SC"/>
                </a:rPr>
                <a:t>)  </a:t>
              </a:r>
              <a:r>
                <a:rPr b="0" lang="en-US" sz="2600" spc="-1" strike="noStrike">
                  <a:solidFill>
                    <a:srgbClr val="000000"/>
                  </a:solidFill>
                  <a:latin typeface="Cairo"/>
                  <a:ea typeface="Noto Sans CJK SC"/>
                </a:rPr>
                <a:t>[</a:t>
              </a:r>
              <a:r>
                <a:rPr b="0" lang="en-US" sz="2600" spc="-1" strike="noStrike">
                  <a:solidFill>
                    <a:srgbClr val="000000"/>
                  </a:solidFill>
                  <a:latin typeface="Cairo"/>
                  <a:ea typeface="Noto Sans CJK SC"/>
                </a:rPr>
                <a:t>Text</a:t>
              </a:r>
              <a:r>
                <a:rPr b="0" lang="en-US" sz="2600" spc="-1" strike="noStrike">
                  <a:solidFill>
                    <a:srgbClr val="000000"/>
                  </a:solidFill>
                  <a:latin typeface="Cairo"/>
                  <a:ea typeface="Noto Sans CJK SC"/>
                </a:rPr>
                <a:t>] !</a:t>
              </a:r>
              <a:endParaRPr b="0" lang="en-US" sz="2600" spc="-1" strike="noStrike">
                <a:solidFill>
                  <a:srgbClr val="ffffff"/>
                </a:solidFill>
                <a:latin typeface="Arial"/>
              </a:endParaRPr>
            </a:p>
            <a:p>
              <a:pPr algn="r" rtl="1">
                <a:lnSpc>
                  <a:spcPct val="100000"/>
                </a:lnSpc>
                <a:spcBef>
                  <a:spcPts val="57"/>
                </a:spcBef>
              </a:pPr>
              <a:r>
                <a:rPr b="1" lang="hi-IN" sz="2600" spc="-1" strike="noStrike">
                  <a:solidFill>
                    <a:srgbClr val="b71c1c"/>
                  </a:solidFill>
                  <a:latin typeface="Cairo"/>
                  <a:cs typeface="Cairo"/>
                </a:rPr>
                <a:t>صورة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  <a:ea typeface="Noto Sans CJK SC"/>
                </a:rPr>
                <a:t>: (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  <a:ea typeface="Noto Sans CJK SC"/>
                </a:rPr>
                <a:t>Image_URL_or_Path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  <a:ea typeface="Noto Sans CJK SC"/>
                </a:rPr>
                <a:t>)  [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  <a:ea typeface="Noto Sans CJK SC"/>
                </a:rPr>
                <a:t>Alt Text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  <a:ea typeface="Noto Sans CJK SC"/>
                </a:rPr>
                <a:t>]!</a:t>
              </a:r>
              <a:endParaRPr b="0" lang="en-US" sz="26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354" name="" descr=""/>
          <p:cNvPicPr/>
          <p:nvPr/>
        </p:nvPicPr>
        <p:blipFill>
          <a:blip r:embed="rId10"/>
          <a:srcRect l="7820" t="0" r="0" b="0"/>
          <a:stretch/>
        </p:blipFill>
        <p:spPr>
          <a:xfrm>
            <a:off x="914400" y="4534200"/>
            <a:ext cx="8080200" cy="1865520"/>
          </a:xfrm>
          <a:prstGeom prst="rect">
            <a:avLst/>
          </a:prstGeom>
          <a:ln w="0">
            <a:noFill/>
          </a:ln>
        </p:spPr>
      </p:pic>
      <p:pic>
        <p:nvPicPr>
          <p:cNvPr id="355" name="" descr=""/>
          <p:cNvPicPr/>
          <p:nvPr/>
        </p:nvPicPr>
        <p:blipFill>
          <a:blip r:embed="rId11"/>
          <a:stretch/>
        </p:blipFill>
        <p:spPr>
          <a:xfrm>
            <a:off x="1600200" y="6400800"/>
            <a:ext cx="6399720" cy="3908520"/>
          </a:xfrm>
          <a:prstGeom prst="rect">
            <a:avLst/>
          </a:prstGeom>
          <a:ln w="0">
            <a:noFill/>
          </a:ln>
        </p:spPr>
      </p:pic>
      <p:pic>
        <p:nvPicPr>
          <p:cNvPr id="356" name="" descr=""/>
          <p:cNvPicPr/>
          <p:nvPr/>
        </p:nvPicPr>
        <p:blipFill>
          <a:blip r:embed="rId12"/>
          <a:stretch/>
        </p:blipFill>
        <p:spPr>
          <a:xfrm>
            <a:off x="9829800" y="5257800"/>
            <a:ext cx="7380360" cy="1122480"/>
          </a:xfrm>
          <a:prstGeom prst="rect">
            <a:avLst/>
          </a:prstGeom>
          <a:ln w="0">
            <a:noFill/>
          </a:ln>
        </p:spPr>
      </p:pic>
      <p:pic>
        <p:nvPicPr>
          <p:cNvPr id="357" name="" descr=""/>
          <p:cNvPicPr/>
          <p:nvPr/>
        </p:nvPicPr>
        <p:blipFill>
          <a:blip r:embed="rId13"/>
          <a:stretch/>
        </p:blipFill>
        <p:spPr>
          <a:xfrm>
            <a:off x="9849240" y="6629400"/>
            <a:ext cx="7294680" cy="345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0" dur="indefinite" restart="never" nodeType="tmRoot">
          <p:childTnLst>
            <p:seq>
              <p:cTn id="491" dur="indefinite" nodeType="mainSeq">
                <p:childTnLst>
                  <p:par>
                    <p:cTn id="492" fill="hold">
                      <p:stCondLst>
                        <p:cond delay="indefinite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id="494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496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7" fill="hold">
                      <p:stCondLst>
                        <p:cond delay="indefinite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01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fill="hold">
                      <p:stCondLst>
                        <p:cond delay="indefinite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id="50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6" fill="hold">
                      <p:stCondLst>
                        <p:cond delay="indefinite"/>
                      </p:stCondLst>
                      <p:childTnLst>
                        <p:par>
                          <p:cTn id="507" fill="hold">
                            <p:stCondLst>
                              <p:cond delay="0"/>
                            </p:stCondLst>
                            <p:childTnLst>
                              <p:par>
                                <p:cTn id="50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0" fill="hold">
                      <p:stCondLst>
                        <p:cond delay="indefinite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4" fill="hold">
                      <p:stCondLst>
                        <p:cond delay="indefinite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Freeform 2"/>
          <p:cNvSpPr/>
          <p:nvPr/>
        </p:nvSpPr>
        <p:spPr>
          <a:xfrm>
            <a:off x="1028880" y="8872560"/>
            <a:ext cx="7313040" cy="769320"/>
          </a:xfrm>
          <a:custGeom>
            <a:avLst/>
            <a:gdLst>
              <a:gd name="textAreaLeft" fmla="*/ 0 w 7313040"/>
              <a:gd name="textAreaRight" fmla="*/ 731520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2"/>
                </a:lnTo>
                <a:lnTo>
                  <a:pt x="0" y="7714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Freeform 3"/>
          <p:cNvSpPr/>
          <p:nvPr/>
        </p:nvSpPr>
        <p:spPr>
          <a:xfrm flipH="1">
            <a:off x="9942120" y="642960"/>
            <a:ext cx="7313040" cy="769320"/>
          </a:xfrm>
          <a:custGeom>
            <a:avLst/>
            <a:gdLst>
              <a:gd name="textAreaLeft" fmla="*/ -1080 w 7313040"/>
              <a:gd name="textAreaRight" fmla="*/ 731412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2"/>
                </a:lnTo>
                <a:lnTo>
                  <a:pt x="7315200" y="771422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Freeform 4"/>
          <p:cNvSpPr/>
          <p:nvPr/>
        </p:nvSpPr>
        <p:spPr>
          <a:xfrm>
            <a:off x="15202080" y="801036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Freeform 5"/>
          <p:cNvSpPr/>
          <p:nvPr/>
        </p:nvSpPr>
        <p:spPr>
          <a:xfrm flipV="1">
            <a:off x="-2055960" y="-251568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360 h 4112640"/>
              <a:gd name="textAreaBottom" fmla="*/ 411516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Freeform 6"/>
          <p:cNvSpPr/>
          <p:nvPr/>
        </p:nvSpPr>
        <p:spPr>
          <a:xfrm rot="16200000">
            <a:off x="-1621080" y="54082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Freeform 7"/>
          <p:cNvSpPr/>
          <p:nvPr/>
        </p:nvSpPr>
        <p:spPr>
          <a:xfrm flipV="1" rot="16200000">
            <a:off x="14609520" y="41068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1080 h 769320"/>
              <a:gd name="textAreaBottom" fmla="*/ 77256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4" name=""/>
          <p:cNvGrpSpPr/>
          <p:nvPr/>
        </p:nvGrpSpPr>
        <p:grpSpPr>
          <a:xfrm>
            <a:off x="2286000" y="3200400"/>
            <a:ext cx="7085520" cy="913320"/>
            <a:chOff x="2286000" y="3200400"/>
            <a:chExt cx="7085520" cy="913320"/>
          </a:xfrm>
        </p:grpSpPr>
        <p:sp>
          <p:nvSpPr>
            <p:cNvPr id="365" name=""/>
            <p:cNvSpPr/>
            <p:nvPr/>
          </p:nvSpPr>
          <p:spPr>
            <a:xfrm>
              <a:off x="2286000" y="3200400"/>
              <a:ext cx="7085520" cy="913320"/>
            </a:xfrm>
            <a:prstGeom prst="roundRect">
              <a:avLst>
                <a:gd name="adj" fmla="val 16667"/>
              </a:avLst>
            </a:prstGeom>
            <a:solidFill>
              <a:srgbClr val="311b92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6" name="TextBox 11"/>
            <p:cNvSpPr/>
            <p:nvPr/>
          </p:nvSpPr>
          <p:spPr>
            <a:xfrm>
              <a:off x="2514600" y="3246840"/>
              <a:ext cx="6628320" cy="638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5031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b="0" lang="en-US" sz="3359" spc="83" strike="noStrike">
                  <a:solidFill>
                    <a:srgbClr val="d9d9d9"/>
                  </a:solidFill>
                  <a:latin typeface="Sansation"/>
                  <a:ea typeface="Sansation"/>
                </a:rPr>
                <a:t>Why NumPy over Python Lists?</a:t>
              </a:r>
              <a:endParaRPr b="0" lang="en-US" sz="3359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67" name="TextBox 16"/>
          <p:cNvSpPr/>
          <p:nvPr/>
        </p:nvSpPr>
        <p:spPr>
          <a:xfrm>
            <a:off x="2286000" y="4343400"/>
            <a:ext cx="14400720" cy="482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5031"/>
              </a:lnSpc>
              <a:spcBef>
                <a:spcPts val="340"/>
              </a:spcBef>
              <a:spcAft>
                <a:spcPts val="142"/>
              </a:spcAft>
              <a:buClr>
                <a:srgbClr val="d9d9d9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1" lang="en-US" sz="2500" spc="83" strike="noStrike">
                <a:solidFill>
                  <a:srgbClr val="b71c1c"/>
                </a:solidFill>
                <a:latin typeface="DejaVu Sans"/>
                <a:ea typeface="Sansation"/>
              </a:rPr>
              <a:t> </a:t>
            </a:r>
            <a:r>
              <a:rPr b="1" lang="en-US" sz="2500" spc="83" strike="noStrike">
                <a:solidFill>
                  <a:srgbClr val="b71c1c"/>
                </a:solidFill>
                <a:latin typeface="DejaVu Sans"/>
                <a:ea typeface="Sansation"/>
              </a:rPr>
              <a:t>Memory Efficiency:</a:t>
            </a:r>
            <a:r>
              <a:rPr b="0" lang="en-US" sz="2500" spc="83" strike="noStrike">
                <a:solidFill>
                  <a:srgbClr val="d9d9d9"/>
                </a:solidFill>
                <a:latin typeface="DejaVu Sans"/>
                <a:ea typeface="Sansation"/>
              </a:rPr>
              <a:t> 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5031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US" sz="2500" spc="83" strike="noStrike">
                <a:solidFill>
                  <a:srgbClr val="d9d9d9"/>
                </a:solidFill>
                <a:latin typeface="DejaVu Sans"/>
                <a:ea typeface="Sansation"/>
              </a:rPr>
              <a:t>NumPy arrays are stored in </a:t>
            </a:r>
            <a:r>
              <a:rPr b="1" lang="en-US" sz="2500" spc="83" strike="noStrike">
                <a:solidFill>
                  <a:srgbClr val="d9d9d9"/>
                </a:solidFill>
                <a:latin typeface="DejaVu Sans"/>
                <a:ea typeface="Sansation"/>
              </a:rPr>
              <a:t>Contiguous Memory blocks</a:t>
            </a:r>
            <a:r>
              <a:rPr b="0" lang="en-US" sz="2500" spc="83" strike="noStrike">
                <a:solidFill>
                  <a:srgbClr val="d9d9d9"/>
                </a:solidFill>
                <a:latin typeface="DejaVu Sans"/>
                <a:ea typeface="Sansation"/>
              </a:rPr>
              <a:t>, leading to much smaller memory footprints compared to standard Python lists.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ts val="5031"/>
              </a:lnSpc>
              <a:spcBef>
                <a:spcPts val="340"/>
              </a:spcBef>
              <a:spcAft>
                <a:spcPts val="142"/>
              </a:spcAft>
              <a:buClr>
                <a:srgbClr val="d9d9d9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1" lang="en-US" sz="2500" spc="83" strike="noStrike">
                <a:solidFill>
                  <a:srgbClr val="b71c1c"/>
                </a:solidFill>
                <a:latin typeface="DejaVu Sans"/>
                <a:ea typeface="Sansation"/>
              </a:rPr>
              <a:t> </a:t>
            </a:r>
            <a:r>
              <a:rPr b="1" lang="en-US" sz="2500" spc="83" strike="noStrike">
                <a:solidFill>
                  <a:srgbClr val="b71c1c"/>
                </a:solidFill>
                <a:latin typeface="DejaVu Sans"/>
                <a:ea typeface="Sansation"/>
              </a:rPr>
              <a:t>Vectorized Operations: 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5031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US" sz="2500" spc="83" strike="noStrike">
                <a:solidFill>
                  <a:srgbClr val="d9d9d9"/>
                </a:solidFill>
                <a:latin typeface="DejaVu Sans"/>
                <a:ea typeface="Sansation"/>
              </a:rPr>
              <a:t>It eliminates the need for explicit for loops by performing operations on entire arrays at once via C-level implementation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5031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68" name=""/>
          <p:cNvGrpSpPr/>
          <p:nvPr/>
        </p:nvGrpSpPr>
        <p:grpSpPr>
          <a:xfrm>
            <a:off x="3886200" y="1413360"/>
            <a:ext cx="10514520" cy="1328760"/>
            <a:chOff x="3886200" y="1413360"/>
            <a:chExt cx="10514520" cy="1328760"/>
          </a:xfrm>
        </p:grpSpPr>
        <p:sp>
          <p:nvSpPr>
            <p:cNvPr id="369" name="TextBox 12"/>
            <p:cNvSpPr/>
            <p:nvPr/>
          </p:nvSpPr>
          <p:spPr>
            <a:xfrm>
              <a:off x="3886200" y="1413360"/>
              <a:ext cx="10514520" cy="112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8889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b="0" lang="en-US" sz="6000" spc="205" strike="noStrike">
                  <a:solidFill>
                    <a:srgbClr val="d9d9d9"/>
                  </a:solidFill>
                  <a:latin typeface="HK Modular"/>
                  <a:ea typeface="HK Modular"/>
                </a:rPr>
                <a:t>Deep Dive into NumPy</a:t>
              </a:r>
              <a:endParaRPr b="0" lang="en-US" sz="60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0" name=""/>
            <p:cNvSpPr/>
            <p:nvPr/>
          </p:nvSpPr>
          <p:spPr>
            <a:xfrm>
              <a:off x="4094280" y="1413360"/>
              <a:ext cx="10194480" cy="1328760"/>
            </a:xfrm>
            <a:prstGeom prst="frame">
              <a:avLst>
                <a:gd name="adj1" fmla="val 9259"/>
              </a:avLst>
            </a:prstGeom>
            <a:noFill/>
            <a:ln w="18360">
              <a:solidFill>
                <a:srgbClr val="6a1b9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371" name="" descr=""/>
          <p:cNvPicPr/>
          <p:nvPr/>
        </p:nvPicPr>
        <p:blipFill>
          <a:blip r:embed="rId13"/>
          <a:srcRect l="21739" t="0" r="21732" b="0"/>
          <a:stretch/>
        </p:blipFill>
        <p:spPr>
          <a:xfrm>
            <a:off x="1900800" y="1310400"/>
            <a:ext cx="1370520" cy="1361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18" dur="indefinite" restart="never" nodeType="tmRoot">
          <p:childTnLst>
            <p:seq>
              <p:cTn id="519" dur="indefinite" nodeType="mainSeq">
                <p:childTnLst>
                  <p:par>
                    <p:cTn id="520" fill="hold">
                      <p:stCondLst>
                        <p:cond delay="indefinite"/>
                      </p:stCondLst>
                      <p:childTnLst>
                        <p:par>
                          <p:cTn id="521" fill="hold">
                            <p:stCondLst>
                              <p:cond delay="0"/>
                            </p:stCondLst>
                            <p:childTnLst>
                              <p:par>
                                <p:cTn id="52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4" fill="hold">
                      <p:stCondLst>
                        <p:cond delay="indefinite"/>
                      </p:stCondLst>
                      <p:childTnLst>
                        <p:par>
                          <p:cTn id="525" fill="hold">
                            <p:stCondLst>
                              <p:cond delay="0"/>
                            </p:stCondLst>
                            <p:childTnLst>
                              <p:par>
                                <p:cTn id="52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8" fill="hold">
                      <p:stCondLst>
                        <p:cond delay="indefinite"/>
                      </p:stCondLst>
                      <p:childTnLst>
                        <p:par>
                          <p:cTn id="529" fill="hold">
                            <p:stCondLst>
                              <p:cond delay="0"/>
                            </p:stCondLst>
                            <p:childTnLst>
                              <p:par>
                                <p:cTn id="53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2" fill="hold">
                      <p:stCondLst>
                        <p:cond delay="indefinite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id="534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536" dur="500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7" fill="hold">
                      <p:stCondLst>
                        <p:cond delay="indefinite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id="539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541" dur="500"/>
                                        <p:tgtEl>
                                          <p:spTgt spid="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2" fill="hold">
                      <p:stCondLst>
                        <p:cond delay="indefinite"/>
                      </p:stCondLst>
                      <p:childTnLst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par>
                                <p:cTn id="544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46" dur="500"/>
                                        <p:tgtEl>
                                          <p:spTgt spid="3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7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549" dur="500"/>
                                        <p:tgtEl>
                                          <p:spTgt spid="3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Freeform 38"/>
          <p:cNvSpPr/>
          <p:nvPr/>
        </p:nvSpPr>
        <p:spPr>
          <a:xfrm>
            <a:off x="1028880" y="8872560"/>
            <a:ext cx="7313040" cy="769320"/>
          </a:xfrm>
          <a:custGeom>
            <a:avLst/>
            <a:gdLst>
              <a:gd name="textAreaLeft" fmla="*/ 0 w 7313040"/>
              <a:gd name="textAreaRight" fmla="*/ 731520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2"/>
                </a:lnTo>
                <a:lnTo>
                  <a:pt x="0" y="7714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Freeform 39"/>
          <p:cNvSpPr/>
          <p:nvPr/>
        </p:nvSpPr>
        <p:spPr>
          <a:xfrm flipH="1">
            <a:off x="9942120" y="642960"/>
            <a:ext cx="7313040" cy="769320"/>
          </a:xfrm>
          <a:custGeom>
            <a:avLst/>
            <a:gdLst>
              <a:gd name="textAreaLeft" fmla="*/ -1080 w 7313040"/>
              <a:gd name="textAreaRight" fmla="*/ 731412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2"/>
                </a:lnTo>
                <a:lnTo>
                  <a:pt x="7315200" y="771422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Freeform 40"/>
          <p:cNvSpPr/>
          <p:nvPr/>
        </p:nvSpPr>
        <p:spPr>
          <a:xfrm>
            <a:off x="15202080" y="801036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Freeform 41"/>
          <p:cNvSpPr/>
          <p:nvPr/>
        </p:nvSpPr>
        <p:spPr>
          <a:xfrm flipV="1">
            <a:off x="-2055960" y="-251568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360 h 4112640"/>
              <a:gd name="textAreaBottom" fmla="*/ 411516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Freeform 42"/>
          <p:cNvSpPr/>
          <p:nvPr/>
        </p:nvSpPr>
        <p:spPr>
          <a:xfrm rot="16200000">
            <a:off x="-1621080" y="54082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Freeform 43"/>
          <p:cNvSpPr/>
          <p:nvPr/>
        </p:nvSpPr>
        <p:spPr>
          <a:xfrm flipV="1" rot="16200000">
            <a:off x="14609520" y="41068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1080 h 769320"/>
              <a:gd name="textAreaBottom" fmla="*/ 77256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78" name=""/>
          <p:cNvGrpSpPr/>
          <p:nvPr/>
        </p:nvGrpSpPr>
        <p:grpSpPr>
          <a:xfrm>
            <a:off x="5257800" y="3200400"/>
            <a:ext cx="8228520" cy="913320"/>
            <a:chOff x="5257800" y="3200400"/>
            <a:chExt cx="8228520" cy="913320"/>
          </a:xfrm>
        </p:grpSpPr>
        <p:grpSp>
          <p:nvGrpSpPr>
            <p:cNvPr id="379" name=""/>
            <p:cNvGrpSpPr/>
            <p:nvPr/>
          </p:nvGrpSpPr>
          <p:grpSpPr>
            <a:xfrm>
              <a:off x="5257800" y="3200400"/>
              <a:ext cx="8228520" cy="913320"/>
              <a:chOff x="5257800" y="3200400"/>
              <a:chExt cx="8228520" cy="913320"/>
            </a:xfrm>
          </p:grpSpPr>
          <p:sp>
            <p:nvSpPr>
              <p:cNvPr id="380" name=""/>
              <p:cNvSpPr/>
              <p:nvPr/>
            </p:nvSpPr>
            <p:spPr>
              <a:xfrm>
                <a:off x="5257800" y="3200400"/>
                <a:ext cx="8228520" cy="913320"/>
              </a:xfrm>
              <a:prstGeom prst="roundRect">
                <a:avLst>
                  <a:gd name="adj" fmla="val 16667"/>
                </a:avLst>
              </a:prstGeom>
              <a:solidFill>
                <a:srgbClr val="311b92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81" name="TextBox 11"/>
              <p:cNvSpPr/>
              <p:nvPr/>
            </p:nvSpPr>
            <p:spPr>
              <a:xfrm>
                <a:off x="5559840" y="3200400"/>
                <a:ext cx="7697880" cy="638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algn="ctr" defTabSz="914400">
                  <a:lnSpc>
                    <a:spcPts val="5031"/>
                  </a:lnSpc>
                  <a:spcBef>
                    <a:spcPts val="1191"/>
                  </a:spcBef>
                  <a:spcAft>
                    <a:spcPts val="992"/>
                  </a:spcAft>
                  <a:tabLst>
                    <a:tab algn="l" pos="0"/>
                  </a:tabLst>
                </a:pPr>
                <a:r>
                  <a:rPr b="0" lang="en-US" sz="3200" spc="83" strike="noStrike">
                    <a:solidFill>
                      <a:srgbClr val="d9d9d9"/>
                    </a:solidFill>
                    <a:latin typeface="Noto Serif Condensed Medium"/>
                    <a:ea typeface="Sansation"/>
                  </a:rPr>
                  <a:t>The N-Dimensional Array (NDArray)</a:t>
                </a:r>
                <a:endParaRPr b="0" lang="en-US" sz="32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382" name="TextBox 1"/>
          <p:cNvSpPr/>
          <p:nvPr/>
        </p:nvSpPr>
        <p:spPr>
          <a:xfrm>
            <a:off x="2286000" y="4343400"/>
            <a:ext cx="14400720" cy="40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5031"/>
              </a:lnSpc>
              <a:spcBef>
                <a:spcPts val="340"/>
              </a:spcBef>
              <a:spcAft>
                <a:spcPts val="142"/>
              </a:spcAft>
              <a:buClr>
                <a:srgbClr val="d9d9d9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1" lang="en-US" sz="2500" spc="83" strike="noStrike">
                <a:solidFill>
                  <a:srgbClr val="b71c1c"/>
                </a:solidFill>
                <a:latin typeface="DejaVu Sans"/>
                <a:ea typeface="Noto Sans CJK SC"/>
              </a:rPr>
              <a:t>Homogeneous Data: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ts val="5031"/>
              </a:lnSpc>
              <a:spcBef>
                <a:spcPts val="340"/>
              </a:spcBef>
              <a:spcAft>
                <a:spcPts val="142"/>
              </a:spcAft>
              <a:buClr>
                <a:srgbClr val="d9d9d9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2500" spc="83" strike="noStrike">
                <a:solidFill>
                  <a:srgbClr val="ffffff"/>
                </a:solidFill>
                <a:latin typeface="DejaVu Sans"/>
                <a:ea typeface="Noto Sans CJK SC"/>
              </a:rPr>
              <a:t> </a:t>
            </a:r>
            <a:r>
              <a:rPr b="0" lang="en-US" sz="2500" spc="83" strike="noStrike">
                <a:solidFill>
                  <a:srgbClr val="ffffff"/>
                </a:solidFill>
                <a:latin typeface="DejaVu Sans"/>
                <a:ea typeface="Noto Sans CJK SC"/>
              </a:rPr>
              <a:t>Unlike lists, all elements in a NumPy array must be of the same data type, which allows for highly optimized mathematical computations.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ts val="5031"/>
              </a:lnSpc>
              <a:spcBef>
                <a:spcPts val="340"/>
              </a:spcBef>
              <a:spcAft>
                <a:spcPts val="142"/>
              </a:spcAft>
              <a:buClr>
                <a:srgbClr val="d9d9d9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1" lang="en-US" sz="2500" spc="83" strike="noStrike">
                <a:solidFill>
                  <a:srgbClr val="b71c1c"/>
                </a:solidFill>
                <a:latin typeface="DejaVu Sans"/>
                <a:ea typeface="Noto Sans CJK SC"/>
              </a:rPr>
              <a:t>Broadcasting: 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ts val="5031"/>
              </a:lnSpc>
              <a:spcBef>
                <a:spcPts val="340"/>
              </a:spcBef>
              <a:spcAft>
                <a:spcPts val="142"/>
              </a:spcAft>
              <a:buClr>
                <a:srgbClr val="d9d9d9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2500" spc="83" strike="noStrike">
                <a:solidFill>
                  <a:srgbClr val="ffffff"/>
                </a:solidFill>
                <a:latin typeface="DejaVu Sans"/>
                <a:ea typeface="Noto Sans CJK SC"/>
              </a:rPr>
              <a:t>A powerful mechanism that allows NumPy to work with arrays of different shapes during arithmetic operations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83" name=""/>
          <p:cNvGrpSpPr/>
          <p:nvPr/>
        </p:nvGrpSpPr>
        <p:grpSpPr>
          <a:xfrm>
            <a:off x="3886200" y="1413360"/>
            <a:ext cx="10514520" cy="1328760"/>
            <a:chOff x="3886200" y="1413360"/>
            <a:chExt cx="10514520" cy="1328760"/>
          </a:xfrm>
        </p:grpSpPr>
        <p:sp>
          <p:nvSpPr>
            <p:cNvPr id="384" name="TextBox 12"/>
            <p:cNvSpPr/>
            <p:nvPr/>
          </p:nvSpPr>
          <p:spPr>
            <a:xfrm>
              <a:off x="3886200" y="1413360"/>
              <a:ext cx="10514520" cy="112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8889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b="0" lang="en-US" sz="6000" spc="205" strike="noStrike">
                  <a:solidFill>
                    <a:srgbClr val="d9d9d9"/>
                  </a:solidFill>
                  <a:latin typeface="HK Modular"/>
                  <a:ea typeface="HK Modular"/>
                </a:rPr>
                <a:t>Deep Dive into NumPy</a:t>
              </a:r>
              <a:endParaRPr b="0" lang="en-US" sz="60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5" name=""/>
            <p:cNvSpPr/>
            <p:nvPr/>
          </p:nvSpPr>
          <p:spPr>
            <a:xfrm>
              <a:off x="4094280" y="1413360"/>
              <a:ext cx="10194480" cy="1328760"/>
            </a:xfrm>
            <a:prstGeom prst="frame">
              <a:avLst>
                <a:gd name="adj1" fmla="val 9259"/>
              </a:avLst>
            </a:prstGeom>
            <a:noFill/>
            <a:ln w="18360">
              <a:solidFill>
                <a:srgbClr val="6a1b9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386" name="" descr=""/>
          <p:cNvPicPr/>
          <p:nvPr/>
        </p:nvPicPr>
        <p:blipFill>
          <a:blip r:embed="rId13"/>
          <a:srcRect l="21739" t="0" r="21732" b="0"/>
          <a:stretch/>
        </p:blipFill>
        <p:spPr>
          <a:xfrm>
            <a:off x="1900800" y="1310400"/>
            <a:ext cx="1370520" cy="1361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50" dur="indefinite" restart="never" nodeType="tmRoot">
          <p:childTnLst>
            <p:seq>
              <p:cTn id="551" dur="indefinite" nodeType="mainSeq">
                <p:childTnLst>
                  <p:par>
                    <p:cTn id="552" fill="hold">
                      <p:stCondLst>
                        <p:cond delay="indefinite"/>
                      </p:stCondLst>
                      <p:childTnLst>
                        <p:par>
                          <p:cTn id="553" fill="hold">
                            <p:stCondLst>
                              <p:cond delay="0"/>
                            </p:stCondLst>
                            <p:childTnLst>
                              <p:par>
                                <p:cTn id="55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6" fill="hold">
                      <p:stCondLst>
                        <p:cond delay="indefinite"/>
                      </p:stCondLst>
                      <p:childTnLst>
                        <p:par>
                          <p:cTn id="557" fill="hold">
                            <p:stCondLst>
                              <p:cond delay="0"/>
                            </p:stCondLst>
                            <p:childTnLst>
                              <p:par>
                                <p:cTn id="558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560" dur="500"/>
                                        <p:tgtEl>
                                          <p:spTgt spid="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1" fill="hold">
                      <p:stCondLst>
                        <p:cond delay="indefinite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nodeType="clickEffect" fill="hold" presetClass="entr" presetID="4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5" dur="1000"/>
                                        <p:tgtEl>
                                          <p:spTgt spid="3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66" dur="1000" fill="hold"/>
                                        <p:tgtEl>
                                          <p:spTgt spid="3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7" dur="1000" fill="hold"/>
                                        <p:tgtEl>
                                          <p:spTgt spid="3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8" fill="hold">
                      <p:stCondLst>
                        <p:cond delay="indefinite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id="570" nodeType="click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Bottom)" transition="in">
                                      <p:cBhvr additive="repl">
                                        <p:cTn id="572" dur="500"/>
                                        <p:tgtEl>
                                          <p:spTgt spid="3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indefinite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nodeType="clickEffect" fill="hold" presetClass="entr" presetID="4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7" dur="1000"/>
                                        <p:tgtEl>
                                          <p:spTgt spid="3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78" dur="1000" fill="hold"/>
                                        <p:tgtEl>
                                          <p:spTgt spid="3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79" dur="1000" fill="hold"/>
                                        <p:tgtEl>
                                          <p:spTgt spid="3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Freeform 44"/>
          <p:cNvSpPr/>
          <p:nvPr/>
        </p:nvSpPr>
        <p:spPr>
          <a:xfrm>
            <a:off x="1028880" y="8872560"/>
            <a:ext cx="7313040" cy="769320"/>
          </a:xfrm>
          <a:custGeom>
            <a:avLst/>
            <a:gdLst>
              <a:gd name="textAreaLeft" fmla="*/ 0 w 7313040"/>
              <a:gd name="textAreaRight" fmla="*/ 731520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2"/>
                </a:lnTo>
                <a:lnTo>
                  <a:pt x="0" y="7714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Freeform 45"/>
          <p:cNvSpPr/>
          <p:nvPr/>
        </p:nvSpPr>
        <p:spPr>
          <a:xfrm flipH="1">
            <a:off x="9942120" y="642960"/>
            <a:ext cx="7313040" cy="769320"/>
          </a:xfrm>
          <a:custGeom>
            <a:avLst/>
            <a:gdLst>
              <a:gd name="textAreaLeft" fmla="*/ -1080 w 7313040"/>
              <a:gd name="textAreaRight" fmla="*/ 731412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2"/>
                </a:lnTo>
                <a:lnTo>
                  <a:pt x="7315200" y="771422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Freeform 46"/>
          <p:cNvSpPr/>
          <p:nvPr/>
        </p:nvSpPr>
        <p:spPr>
          <a:xfrm>
            <a:off x="15202080" y="801036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Freeform 47"/>
          <p:cNvSpPr/>
          <p:nvPr/>
        </p:nvSpPr>
        <p:spPr>
          <a:xfrm flipV="1">
            <a:off x="-2055960" y="-251568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360 h 4112640"/>
              <a:gd name="textAreaBottom" fmla="*/ 411516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Freeform 48"/>
          <p:cNvSpPr/>
          <p:nvPr/>
        </p:nvSpPr>
        <p:spPr>
          <a:xfrm rot="16200000">
            <a:off x="-1621080" y="54082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Freeform 49"/>
          <p:cNvSpPr/>
          <p:nvPr/>
        </p:nvSpPr>
        <p:spPr>
          <a:xfrm flipV="1" rot="16200000">
            <a:off x="14609520" y="410688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1080 h 769320"/>
              <a:gd name="textAreaBottom" fmla="*/ 77256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93" name=""/>
          <p:cNvGrpSpPr/>
          <p:nvPr/>
        </p:nvGrpSpPr>
        <p:grpSpPr>
          <a:xfrm>
            <a:off x="5257800" y="3200400"/>
            <a:ext cx="8228520" cy="913320"/>
            <a:chOff x="5257800" y="3200400"/>
            <a:chExt cx="8228520" cy="913320"/>
          </a:xfrm>
        </p:grpSpPr>
        <p:grpSp>
          <p:nvGrpSpPr>
            <p:cNvPr id="394" name=""/>
            <p:cNvGrpSpPr/>
            <p:nvPr/>
          </p:nvGrpSpPr>
          <p:grpSpPr>
            <a:xfrm>
              <a:off x="5257800" y="3200400"/>
              <a:ext cx="8228520" cy="913320"/>
              <a:chOff x="5257800" y="3200400"/>
              <a:chExt cx="8228520" cy="913320"/>
            </a:xfrm>
          </p:grpSpPr>
          <p:sp>
            <p:nvSpPr>
              <p:cNvPr id="395" name=""/>
              <p:cNvSpPr/>
              <p:nvPr/>
            </p:nvSpPr>
            <p:spPr>
              <a:xfrm>
                <a:off x="5257800" y="3200400"/>
                <a:ext cx="8228520" cy="913320"/>
              </a:xfrm>
              <a:prstGeom prst="roundRect">
                <a:avLst>
                  <a:gd name="adj" fmla="val 16667"/>
                </a:avLst>
              </a:prstGeom>
              <a:solidFill>
                <a:srgbClr val="311b92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96" name="TextBox 11"/>
              <p:cNvSpPr/>
              <p:nvPr/>
            </p:nvSpPr>
            <p:spPr>
              <a:xfrm>
                <a:off x="5559840" y="3200400"/>
                <a:ext cx="7697880" cy="638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algn="ctr" defTabSz="914400">
                  <a:lnSpc>
                    <a:spcPts val="5031"/>
                  </a:lnSpc>
                  <a:spcBef>
                    <a:spcPts val="1191"/>
                  </a:spcBef>
                  <a:spcAft>
                    <a:spcPts val="992"/>
                  </a:spcAft>
                  <a:tabLst>
                    <a:tab algn="l" pos="0"/>
                  </a:tabLst>
                </a:pPr>
                <a:r>
                  <a:rPr b="0" lang="en-US" sz="3300" spc="83" strike="noStrike">
                    <a:solidFill>
                      <a:srgbClr val="ffffff"/>
                    </a:solidFill>
                    <a:latin typeface="DejaVu Sans"/>
                    <a:ea typeface="Noto Sans CJK SC"/>
                  </a:rPr>
                  <a:t>Performance Benchmark</a:t>
                </a:r>
                <a:endParaRPr b="0" lang="en-US" sz="33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397" name="TextBox 2"/>
          <p:cNvSpPr/>
          <p:nvPr/>
        </p:nvSpPr>
        <p:spPr>
          <a:xfrm>
            <a:off x="2057400" y="5123160"/>
            <a:ext cx="14400720" cy="12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031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2600" spc="83" strike="noStrike">
                <a:solidFill>
                  <a:srgbClr val="ffffff"/>
                </a:solidFill>
                <a:latin typeface="Noto Serif Condensed Medium"/>
                <a:ea typeface="Noto Sans CJK SC"/>
              </a:rPr>
              <a:t>Operations in NumPy can be</a:t>
            </a:r>
            <a:r>
              <a:rPr b="0" lang="en-US" sz="2600" spc="83" strike="noStrike" u="sng">
                <a:solidFill>
                  <a:srgbClr val="ffffff"/>
                </a:solidFill>
                <a:uFillTx/>
                <a:latin typeface="Noto Serif Condensed Medium"/>
                <a:ea typeface="Noto Sans CJK SC"/>
              </a:rPr>
              <a:t> </a:t>
            </a:r>
            <a:r>
              <a:rPr b="1" lang="en-US" sz="2600" spc="83" strike="noStrike" u="sng">
                <a:solidFill>
                  <a:srgbClr val="ffffff"/>
                </a:solidFill>
                <a:uFillTx/>
                <a:latin typeface="Noto Serif Condensed Medium"/>
                <a:ea typeface="Noto Sans CJK SC"/>
              </a:rPr>
              <a:t>10x to 100x faster than native Python code</a:t>
            </a:r>
            <a:r>
              <a:rPr b="0" lang="en-US" sz="2600" spc="83" strike="noStrike">
                <a:solidFill>
                  <a:srgbClr val="ffffff"/>
                </a:solidFill>
                <a:latin typeface="Noto Serif Condensed Medium"/>
                <a:ea typeface="Noto Sans CJK SC"/>
              </a:rPr>
              <a:t> for large datasets, which is crucial for Big Data applications.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98" name=""/>
          <p:cNvGrpSpPr/>
          <p:nvPr/>
        </p:nvGrpSpPr>
        <p:grpSpPr>
          <a:xfrm>
            <a:off x="3886200" y="1413360"/>
            <a:ext cx="10514520" cy="1328760"/>
            <a:chOff x="3886200" y="1413360"/>
            <a:chExt cx="10514520" cy="1328760"/>
          </a:xfrm>
        </p:grpSpPr>
        <p:sp>
          <p:nvSpPr>
            <p:cNvPr id="399" name="TextBox 12"/>
            <p:cNvSpPr/>
            <p:nvPr/>
          </p:nvSpPr>
          <p:spPr>
            <a:xfrm>
              <a:off x="3886200" y="1413360"/>
              <a:ext cx="10514520" cy="112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8889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b="0" lang="en-US" sz="6000" spc="205" strike="noStrike">
                  <a:solidFill>
                    <a:srgbClr val="d9d9d9"/>
                  </a:solidFill>
                  <a:latin typeface="HK Modular"/>
                  <a:ea typeface="HK Modular"/>
                </a:rPr>
                <a:t>Deep Dive into NumPy</a:t>
              </a:r>
              <a:endParaRPr b="0" lang="en-US" sz="60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0" name=""/>
            <p:cNvSpPr/>
            <p:nvPr/>
          </p:nvSpPr>
          <p:spPr>
            <a:xfrm>
              <a:off x="4094280" y="1413360"/>
              <a:ext cx="10194480" cy="1328760"/>
            </a:xfrm>
            <a:prstGeom prst="frame">
              <a:avLst>
                <a:gd name="adj1" fmla="val 9259"/>
              </a:avLst>
            </a:prstGeom>
            <a:noFill/>
            <a:ln w="18360">
              <a:solidFill>
                <a:srgbClr val="6a1b9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401" name="" descr=""/>
          <p:cNvPicPr/>
          <p:nvPr/>
        </p:nvPicPr>
        <p:blipFill>
          <a:blip r:embed="rId13"/>
          <a:srcRect l="21739" t="0" r="21732" b="0"/>
          <a:stretch/>
        </p:blipFill>
        <p:spPr>
          <a:xfrm>
            <a:off x="1900800" y="1310400"/>
            <a:ext cx="1370520" cy="1361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80" dur="indefinite" restart="never" nodeType="tmRoot">
          <p:childTnLst>
            <p:seq>
              <p:cTn id="581" dur="indefinite" nodeType="mainSeq">
                <p:childTnLst>
                  <p:par>
                    <p:cTn id="582" fill="hold">
                      <p:stCondLst>
                        <p:cond delay="indefinite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Freeform 57"/>
          <p:cNvSpPr/>
          <p:nvPr/>
        </p:nvSpPr>
        <p:spPr>
          <a:xfrm flipH="1">
            <a:off x="10515600" y="228600"/>
            <a:ext cx="7313040" cy="769320"/>
          </a:xfrm>
          <a:custGeom>
            <a:avLst/>
            <a:gdLst>
              <a:gd name="textAreaLeft" fmla="*/ -1080 w 7313040"/>
              <a:gd name="textAreaRight" fmla="*/ 731412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2"/>
                </a:lnTo>
                <a:lnTo>
                  <a:pt x="7315200" y="771422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Freeform 58"/>
          <p:cNvSpPr/>
          <p:nvPr/>
        </p:nvSpPr>
        <p:spPr>
          <a:xfrm>
            <a:off x="16460280" y="891540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Freeform 59"/>
          <p:cNvSpPr/>
          <p:nvPr/>
        </p:nvSpPr>
        <p:spPr>
          <a:xfrm flipV="1">
            <a:off x="-2055960" y="-251568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360 h 4112640"/>
              <a:gd name="textAreaBottom" fmla="*/ 411516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Freeform 60"/>
          <p:cNvSpPr/>
          <p:nvPr/>
        </p:nvSpPr>
        <p:spPr>
          <a:xfrm rot="16200000">
            <a:off x="-1892160" y="523872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Freeform 61"/>
          <p:cNvSpPr/>
          <p:nvPr/>
        </p:nvSpPr>
        <p:spPr>
          <a:xfrm flipV="1" rot="16200000">
            <a:off x="14879880" y="432216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1080 h 769320"/>
              <a:gd name="textAreaBottom" fmla="*/ 77256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07" name=""/>
          <p:cNvGrpSpPr/>
          <p:nvPr/>
        </p:nvGrpSpPr>
        <p:grpSpPr>
          <a:xfrm>
            <a:off x="5257800" y="3200400"/>
            <a:ext cx="8228520" cy="913320"/>
            <a:chOff x="5257800" y="3200400"/>
            <a:chExt cx="8228520" cy="913320"/>
          </a:xfrm>
        </p:grpSpPr>
        <p:grpSp>
          <p:nvGrpSpPr>
            <p:cNvPr id="408" name=""/>
            <p:cNvGrpSpPr/>
            <p:nvPr/>
          </p:nvGrpSpPr>
          <p:grpSpPr>
            <a:xfrm>
              <a:off x="5257800" y="3200400"/>
              <a:ext cx="8228520" cy="913320"/>
              <a:chOff x="5257800" y="3200400"/>
              <a:chExt cx="8228520" cy="913320"/>
            </a:xfrm>
          </p:grpSpPr>
          <p:sp>
            <p:nvSpPr>
              <p:cNvPr id="409" name=""/>
              <p:cNvSpPr/>
              <p:nvPr/>
            </p:nvSpPr>
            <p:spPr>
              <a:xfrm>
                <a:off x="5257800" y="3200400"/>
                <a:ext cx="8228520" cy="913320"/>
              </a:xfrm>
              <a:prstGeom prst="roundRect">
                <a:avLst>
                  <a:gd name="adj" fmla="val 16667"/>
                </a:avLst>
              </a:prstGeom>
              <a:solidFill>
                <a:srgbClr val="311b92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10" name="TextBox 11"/>
              <p:cNvSpPr/>
              <p:nvPr/>
            </p:nvSpPr>
            <p:spPr>
              <a:xfrm>
                <a:off x="5559840" y="3200400"/>
                <a:ext cx="7697880" cy="638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algn="ctr" defTabSz="914400">
                  <a:lnSpc>
                    <a:spcPts val="5031"/>
                  </a:lnSpc>
                  <a:spcBef>
                    <a:spcPts val="1191"/>
                  </a:spcBef>
                  <a:spcAft>
                    <a:spcPts val="992"/>
                  </a:spcAft>
                  <a:tabLst>
                    <a:tab algn="l" pos="0"/>
                  </a:tabLst>
                </a:pPr>
                <a:r>
                  <a:rPr b="0" lang="en-US" sz="3600" spc="83" strike="noStrike">
                    <a:solidFill>
                      <a:srgbClr val="ffffff"/>
                    </a:solidFill>
                    <a:latin typeface="Noto Serif Condensed Medium"/>
                    <a:ea typeface="Noto Sans CJK SC"/>
                  </a:rPr>
                  <a:t>Python lists vs. numpy arrays</a:t>
                </a:r>
                <a:endParaRPr b="0" lang="en-US" sz="36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411" name="TextBox 4"/>
          <p:cNvSpPr/>
          <p:nvPr/>
        </p:nvSpPr>
        <p:spPr>
          <a:xfrm>
            <a:off x="3886200" y="4201560"/>
            <a:ext cx="12343320" cy="62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 rtl="1">
              <a:lnSpc>
                <a:spcPts val="5031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hi-IN" sz="2500" spc="83" strike="noStrike">
                <a:solidFill>
                  <a:srgbClr val="ffffff"/>
                </a:solidFill>
                <a:latin typeface="Cairo"/>
                <a:cs typeface="Cairo"/>
              </a:rPr>
              <a:t>بايثون تتعامل مع الـ </a:t>
            </a:r>
            <a:r>
              <a:rPr b="0" lang="en-US" sz="2500" spc="83" strike="noStrike">
                <a:solidFill>
                  <a:srgbClr val="ffffff"/>
                </a:solidFill>
                <a:latin typeface="Cairo"/>
                <a:ea typeface="Noto Sans CJK SC"/>
              </a:rPr>
              <a:t>List</a:t>
            </a:r>
            <a:r>
              <a:rPr b="0" lang="en-US" sz="2500" spc="83" strike="noStrike">
                <a:solidFill>
                  <a:srgbClr val="ffffff"/>
                </a:solidFill>
                <a:latin typeface="Cairo"/>
                <a:ea typeface="Noto Sans CJK SC"/>
              </a:rPr>
              <a:t> كأنها مصفوفة تحتوي على عناوين (</a:t>
            </a:r>
            <a:r>
              <a:rPr b="0" lang="en-US" sz="2500" spc="83" strike="noStrike">
                <a:solidFill>
                  <a:srgbClr val="ffffff"/>
                </a:solidFill>
                <a:latin typeface="Cairo"/>
                <a:ea typeface="Noto Sans CJK SC"/>
              </a:rPr>
              <a:t>Pointers</a:t>
            </a:r>
            <a:r>
              <a:rPr b="0" lang="en-US" sz="2500" spc="83" strike="noStrike">
                <a:solidFill>
                  <a:srgbClr val="ffffff"/>
                </a:solidFill>
                <a:latin typeface="Cairo"/>
                <a:ea typeface="Noto Sans CJK SC"/>
              </a:rPr>
              <a:t>).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algn="r" defTabSz="914400" rtl="1">
              <a:lnSpc>
                <a:spcPts val="5031"/>
              </a:lnSpc>
              <a:spcBef>
                <a:spcPts val="1191"/>
              </a:spcBef>
              <a:spcAft>
                <a:spcPts val="992"/>
              </a:spcAft>
              <a:buClr>
                <a:srgbClr val="d9d9d9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2500" spc="83" strike="noStrike">
                <a:solidFill>
                  <a:srgbClr val="ffffff"/>
                </a:solidFill>
                <a:latin typeface="Cairo"/>
                <a:ea typeface="Noto Sans CJK SC"/>
              </a:rPr>
              <a:t> الـ </a:t>
            </a:r>
            <a:r>
              <a:rPr b="0" lang="en-US" sz="2500" spc="83" strike="noStrike">
                <a:solidFill>
                  <a:srgbClr val="ffffff"/>
                </a:solidFill>
                <a:latin typeface="Cairo"/>
                <a:ea typeface="Noto Sans CJK SC"/>
              </a:rPr>
              <a:t>List</a:t>
            </a:r>
            <a:r>
              <a:rPr b="0" lang="en-US" sz="2500" spc="83" strike="noStrike">
                <a:solidFill>
                  <a:srgbClr val="ffffff"/>
                </a:solidFill>
                <a:latin typeface="Cairo"/>
                <a:ea typeface="Noto Sans CJK SC"/>
              </a:rPr>
              <a:t> لا تخزن القيم نفسها بجانب بعضها، بل تخزن عناوين أماكن القيم في الذاكرة.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algn="r" defTabSz="914400" rtl="1">
              <a:lnSpc>
                <a:spcPts val="5031"/>
              </a:lnSpc>
              <a:spcBef>
                <a:spcPts val="1191"/>
              </a:spcBef>
              <a:spcAft>
                <a:spcPts val="992"/>
              </a:spcAft>
              <a:buClr>
                <a:srgbClr val="d9d9d9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hi-IN" sz="2500" spc="83" strike="noStrike">
                <a:solidFill>
                  <a:srgbClr val="ffffff"/>
                </a:solidFill>
                <a:latin typeface="Cairo"/>
                <a:cs typeface="Cairo"/>
              </a:rPr>
              <a:t>المشكلة عندما تريد الوصول لعناصر القائمة، يجب على المعالج (</a:t>
            </a:r>
            <a:r>
              <a:rPr b="0" lang="en-US" sz="2500" spc="83" strike="noStrike">
                <a:solidFill>
                  <a:srgbClr val="ffffff"/>
                </a:solidFill>
                <a:latin typeface="Cairo"/>
                <a:ea typeface="Noto Sans CJK SC"/>
              </a:rPr>
              <a:t>CPU</a:t>
            </a:r>
            <a:r>
              <a:rPr b="0" lang="en-US" sz="2500" spc="83" strike="noStrike">
                <a:solidFill>
                  <a:srgbClr val="ffffff"/>
                </a:solidFill>
                <a:latin typeface="Cairo"/>
                <a:ea typeface="Noto Sans CJK SC"/>
              </a:rPr>
              <a:t>) أن يذهب للعنوان الأول، ثم يرتد لمكان القيمة، ثم يعود للعنوان الثاني، ثم يرتد لمكان القيمة... وهكذا. هذا يسمى </a:t>
            </a:r>
            <a:r>
              <a:rPr b="0" lang="en-US" sz="2500" spc="83" strike="noStrike">
                <a:solidFill>
                  <a:srgbClr val="ffffff"/>
                </a:solidFill>
                <a:latin typeface="Cairo"/>
                <a:ea typeface="Noto Sans CJK SC"/>
              </a:rPr>
              <a:t>Pointer Overhead</a:t>
            </a:r>
            <a:r>
              <a:rPr b="0" lang="en-US" sz="2500" spc="83" strike="noStrike">
                <a:solidFill>
                  <a:srgbClr val="ffffff"/>
                </a:solidFill>
                <a:latin typeface="Cairo"/>
                <a:ea typeface="Noto Sans CJK SC"/>
              </a:rPr>
              <a:t>.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algn="r" defTabSz="914400" rtl="1">
              <a:lnSpc>
                <a:spcPts val="5031"/>
              </a:lnSpc>
              <a:spcBef>
                <a:spcPts val="1191"/>
              </a:spcBef>
              <a:spcAft>
                <a:spcPts val="992"/>
              </a:spcAft>
              <a:buClr>
                <a:srgbClr val="d9d9d9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hi-IN" sz="2500" spc="83" strike="noStrike">
                <a:solidFill>
                  <a:srgbClr val="ffffff"/>
                </a:solidFill>
                <a:latin typeface="Cairo"/>
                <a:cs typeface="Cairo"/>
              </a:rPr>
              <a:t>ستكون النتيجة استهلاك أكبر للذاكرة وبطء شديد في العمليات الحسابية لأن البيانات مبعثرة (</a:t>
            </a:r>
            <a:r>
              <a:rPr b="0" lang="en-US" sz="2500" spc="83" strike="noStrike">
                <a:solidFill>
                  <a:srgbClr val="ffffff"/>
                </a:solidFill>
                <a:latin typeface="Cairo"/>
                <a:ea typeface="Noto Sans CJK SC"/>
              </a:rPr>
              <a:t>Scattered</a:t>
            </a:r>
            <a:r>
              <a:rPr b="0" lang="en-US" sz="2500" spc="83" strike="noStrike">
                <a:solidFill>
                  <a:srgbClr val="ffffff"/>
                </a:solidFill>
                <a:latin typeface="Cairo"/>
                <a:ea typeface="Noto Sans CJK SC"/>
              </a:rPr>
              <a:t>).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algn="r" defTabSz="914400" rtl="1">
              <a:lnSpc>
                <a:spcPts val="5031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12" name=""/>
          <p:cNvGrpSpPr/>
          <p:nvPr/>
        </p:nvGrpSpPr>
        <p:grpSpPr>
          <a:xfrm>
            <a:off x="3886200" y="1413360"/>
            <a:ext cx="10514520" cy="1328760"/>
            <a:chOff x="3886200" y="1413360"/>
            <a:chExt cx="10514520" cy="1328760"/>
          </a:xfrm>
        </p:grpSpPr>
        <p:sp>
          <p:nvSpPr>
            <p:cNvPr id="413" name="TextBox 12"/>
            <p:cNvSpPr/>
            <p:nvPr/>
          </p:nvSpPr>
          <p:spPr>
            <a:xfrm>
              <a:off x="3886200" y="1413360"/>
              <a:ext cx="10514520" cy="112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8889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b="0" lang="en-US" sz="6000" spc="205" strike="noStrike">
                  <a:solidFill>
                    <a:srgbClr val="d9d9d9"/>
                  </a:solidFill>
                  <a:latin typeface="HK Modular"/>
                  <a:ea typeface="HK Modular"/>
                </a:rPr>
                <a:t>Deep Dive into NumPy</a:t>
              </a:r>
              <a:endParaRPr b="0" lang="en-US" sz="60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4" name=""/>
            <p:cNvSpPr/>
            <p:nvPr/>
          </p:nvSpPr>
          <p:spPr>
            <a:xfrm>
              <a:off x="4094280" y="1413360"/>
              <a:ext cx="10194480" cy="1328760"/>
            </a:xfrm>
            <a:prstGeom prst="frame">
              <a:avLst>
                <a:gd name="adj1" fmla="val 9259"/>
              </a:avLst>
            </a:prstGeom>
            <a:noFill/>
            <a:ln w="18360">
              <a:solidFill>
                <a:srgbClr val="6a1b9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415" name="" descr=""/>
          <p:cNvPicPr/>
          <p:nvPr/>
        </p:nvPicPr>
        <p:blipFill>
          <a:blip r:embed="rId11"/>
          <a:srcRect l="21739" t="0" r="21732" b="0"/>
          <a:stretch/>
        </p:blipFill>
        <p:spPr>
          <a:xfrm>
            <a:off x="1900800" y="1310400"/>
            <a:ext cx="1370520" cy="1361520"/>
          </a:xfrm>
          <a:prstGeom prst="rect">
            <a:avLst/>
          </a:prstGeom>
          <a:ln w="0">
            <a:noFill/>
          </a:ln>
        </p:spPr>
      </p:pic>
      <p:sp>
        <p:nvSpPr>
          <p:cNvPr id="416" name=""/>
          <p:cNvSpPr/>
          <p:nvPr/>
        </p:nvSpPr>
        <p:spPr>
          <a:xfrm>
            <a:off x="1600200" y="3200400"/>
            <a:ext cx="2970720" cy="159912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rtl="1">
              <a:lnSpc>
                <a:spcPct val="100000"/>
              </a:lnSpc>
            </a:pPr>
            <a:r>
              <a:rPr b="0" lang="hi-IN" sz="1800" spc="-1" strike="noStrike">
                <a:solidFill>
                  <a:srgbClr val="ffffff"/>
                </a:solidFill>
                <a:latin typeface="Arial"/>
              </a:rPr>
              <a:t>ال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CPU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يتعامل مع ال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list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على انها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reference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للقيم فقط وليس مكان تخزينها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1371600" y="7543800"/>
            <a:ext cx="2970720" cy="159912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rtl="1">
              <a:lnSpc>
                <a:spcPct val="100000"/>
              </a:lnSpc>
            </a:pPr>
            <a:r>
              <a:rPr b="0" lang="hi-IN" sz="1800" spc="-1" strike="noStrike">
                <a:solidFill>
                  <a:srgbClr val="ffffff"/>
                </a:solidFill>
                <a:latin typeface="Arial"/>
              </a:rPr>
              <a:t>تذكر ان كل عنصر في بايقون هو في الاصل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object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 </a:t>
            </a:r>
            <a:br>
              <a:rPr sz="1800"/>
            </a:br>
            <a:r>
              <a:rPr b="0" lang="hi-IN" sz="1800" spc="-1" strike="noStrike">
                <a:solidFill>
                  <a:srgbClr val="ffffff"/>
                </a:solidFill>
                <a:latin typeface="Arial"/>
              </a:rPr>
              <a:t>مما يفسر بطء التنفيذ وال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overhead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86" dur="indefinite" restart="never" nodeType="tmRoot">
          <p:childTnLst>
            <p:seq>
              <p:cTn id="587" dur="indefinite" nodeType="mainSeq">
                <p:childTnLst>
                  <p:par>
                    <p:cTn id="588" fill="hold">
                      <p:stCondLst>
                        <p:cond delay="indefinite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2" fill="hold">
                      <p:stCondLst>
                        <p:cond delay="indefinite"/>
                      </p:stCondLst>
                      <p:childTnLst>
                        <p:par>
                          <p:cTn id="593" fill="hold">
                            <p:stCondLst>
                              <p:cond delay="0"/>
                            </p:stCondLst>
                            <p:childTnLst>
                              <p:par>
                                <p:cTn id="594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596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7" fill="hold">
                      <p:stCondLst>
                        <p:cond delay="indefinite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nodeType="click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Bottom)" transition="in">
                                      <p:cBhvr additive="repl">
                                        <p:cTn id="601" dur="125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2" fill="hold">
                      <p:stCondLst>
                        <p:cond delay="indefinite"/>
                      </p:stCondLst>
                      <p:childTnLst>
                        <p:par>
                          <p:cTn id="603" fill="hold">
                            <p:stCondLst>
                              <p:cond delay="0"/>
                            </p:stCondLst>
                            <p:childTnLst>
                              <p:par>
                                <p:cTn id="604" nodeType="click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Bottom)" transition="in">
                                      <p:cBhvr additive="repl">
                                        <p:cTn id="606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Freeform 50"/>
          <p:cNvSpPr/>
          <p:nvPr/>
        </p:nvSpPr>
        <p:spPr>
          <a:xfrm>
            <a:off x="458280" y="9059400"/>
            <a:ext cx="7313040" cy="769320"/>
          </a:xfrm>
          <a:custGeom>
            <a:avLst/>
            <a:gdLst>
              <a:gd name="textAreaLeft" fmla="*/ 0 w 7313040"/>
              <a:gd name="textAreaRight" fmla="*/ 731520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2"/>
                </a:lnTo>
                <a:lnTo>
                  <a:pt x="0" y="7714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Freeform 51"/>
          <p:cNvSpPr/>
          <p:nvPr/>
        </p:nvSpPr>
        <p:spPr>
          <a:xfrm flipH="1">
            <a:off x="10515600" y="228600"/>
            <a:ext cx="7313040" cy="769320"/>
          </a:xfrm>
          <a:custGeom>
            <a:avLst/>
            <a:gdLst>
              <a:gd name="textAreaLeft" fmla="*/ -1080 w 7313040"/>
              <a:gd name="textAreaRight" fmla="*/ 731412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2"/>
                </a:lnTo>
                <a:lnTo>
                  <a:pt x="7315200" y="771422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Freeform 52"/>
          <p:cNvSpPr/>
          <p:nvPr/>
        </p:nvSpPr>
        <p:spPr>
          <a:xfrm>
            <a:off x="16230600" y="868680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Freeform 53"/>
          <p:cNvSpPr/>
          <p:nvPr/>
        </p:nvSpPr>
        <p:spPr>
          <a:xfrm flipV="1">
            <a:off x="-2055960" y="-251568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360 h 4112640"/>
              <a:gd name="textAreaBottom" fmla="*/ 411516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Freeform 54"/>
          <p:cNvSpPr/>
          <p:nvPr/>
        </p:nvSpPr>
        <p:spPr>
          <a:xfrm rot="16200000">
            <a:off x="-1892160" y="523872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Freeform 55"/>
          <p:cNvSpPr/>
          <p:nvPr/>
        </p:nvSpPr>
        <p:spPr>
          <a:xfrm flipV="1" rot="16200000">
            <a:off x="14879880" y="432216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1080 h 769320"/>
              <a:gd name="textAreaBottom" fmla="*/ 77256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24" name=""/>
          <p:cNvGrpSpPr/>
          <p:nvPr/>
        </p:nvGrpSpPr>
        <p:grpSpPr>
          <a:xfrm>
            <a:off x="5257800" y="3200400"/>
            <a:ext cx="8228520" cy="913320"/>
            <a:chOff x="5257800" y="3200400"/>
            <a:chExt cx="8228520" cy="913320"/>
          </a:xfrm>
        </p:grpSpPr>
        <p:grpSp>
          <p:nvGrpSpPr>
            <p:cNvPr id="425" name=""/>
            <p:cNvGrpSpPr/>
            <p:nvPr/>
          </p:nvGrpSpPr>
          <p:grpSpPr>
            <a:xfrm>
              <a:off x="5257800" y="3200400"/>
              <a:ext cx="8228520" cy="913320"/>
              <a:chOff x="5257800" y="3200400"/>
              <a:chExt cx="8228520" cy="913320"/>
            </a:xfrm>
          </p:grpSpPr>
          <p:sp>
            <p:nvSpPr>
              <p:cNvPr id="426" name=""/>
              <p:cNvSpPr/>
              <p:nvPr/>
            </p:nvSpPr>
            <p:spPr>
              <a:xfrm>
                <a:off x="5257800" y="3200400"/>
                <a:ext cx="8228520" cy="913320"/>
              </a:xfrm>
              <a:prstGeom prst="roundRect">
                <a:avLst>
                  <a:gd name="adj" fmla="val 16667"/>
                </a:avLst>
              </a:prstGeom>
              <a:solidFill>
                <a:srgbClr val="311b92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27" name="TextBox 11"/>
              <p:cNvSpPr/>
              <p:nvPr/>
            </p:nvSpPr>
            <p:spPr>
              <a:xfrm>
                <a:off x="5559840" y="3200400"/>
                <a:ext cx="7697880" cy="638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algn="ctr" defTabSz="914400">
                  <a:lnSpc>
                    <a:spcPts val="5031"/>
                  </a:lnSpc>
                  <a:spcBef>
                    <a:spcPts val="1191"/>
                  </a:spcBef>
                  <a:spcAft>
                    <a:spcPts val="992"/>
                  </a:spcAft>
                  <a:tabLst>
                    <a:tab algn="l" pos="0"/>
                  </a:tabLst>
                </a:pPr>
                <a:r>
                  <a:rPr b="0" lang="en-US" sz="3600" spc="83" strike="noStrike">
                    <a:solidFill>
                      <a:srgbClr val="ffffff"/>
                    </a:solidFill>
                    <a:latin typeface="Noto Serif Condensed Medium"/>
                    <a:ea typeface="Noto Sans CJK SC"/>
                  </a:rPr>
                  <a:t>Python lists vs. numpy arrays</a:t>
                </a:r>
                <a:endParaRPr b="0" lang="en-US" sz="36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428" name="TextBox 3"/>
          <p:cNvSpPr/>
          <p:nvPr/>
        </p:nvSpPr>
        <p:spPr>
          <a:xfrm>
            <a:off x="1828800" y="4201560"/>
            <a:ext cx="14400720" cy="38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 rtl="1">
              <a:lnSpc>
                <a:spcPts val="5031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hi-IN" sz="2500" spc="83" strike="noStrike">
                <a:solidFill>
                  <a:srgbClr val="ffffff"/>
                </a:solidFill>
                <a:latin typeface="Cairo"/>
                <a:cs typeface="Cairo"/>
              </a:rPr>
              <a:t>الـ </a:t>
            </a:r>
            <a:r>
              <a:rPr b="0" lang="en-US" sz="2500" spc="83" strike="noStrike">
                <a:solidFill>
                  <a:srgbClr val="ffffff"/>
                </a:solidFill>
                <a:latin typeface="Cairo"/>
                <a:ea typeface="Noto Sans CJK SC"/>
              </a:rPr>
              <a:t>NumPy Array</a:t>
            </a:r>
            <a:r>
              <a:rPr b="0" lang="en-US" sz="2500" spc="83" strike="noStrike">
                <a:solidFill>
                  <a:srgbClr val="ffffff"/>
                </a:solidFill>
                <a:latin typeface="Cairo"/>
                <a:ea typeface="Noto Sans CJK SC"/>
              </a:rPr>
              <a:t> هو </a:t>
            </a:r>
            <a:r>
              <a:rPr b="0" lang="en-US" sz="2500" spc="83" strike="noStrike">
                <a:solidFill>
                  <a:srgbClr val="ffffff"/>
                </a:solidFill>
                <a:latin typeface="Cairo"/>
                <a:ea typeface="Noto Sans CJK SC"/>
              </a:rPr>
              <a:t>Contiguous Memory Block</a:t>
            </a:r>
            <a:r>
              <a:rPr b="0" lang="en-US" sz="2500" spc="83" strike="noStrike">
                <a:solidFill>
                  <a:srgbClr val="ffffff"/>
                </a:solidFill>
                <a:latin typeface="Cairo"/>
                <a:ea typeface="Noto Sans CJK SC"/>
              </a:rPr>
              <a:t>.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algn="r" defTabSz="914400" rtl="1">
              <a:lnSpc>
                <a:spcPts val="5031"/>
              </a:lnSpc>
              <a:spcBef>
                <a:spcPts val="57"/>
              </a:spcBef>
              <a:buClr>
                <a:srgbClr val="d9d9d9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2500" spc="83" strike="noStrike">
                <a:solidFill>
                  <a:srgbClr val="ffffff"/>
                </a:solidFill>
                <a:latin typeface="Cairo"/>
                <a:ea typeface="Noto Sans CJK SC"/>
              </a:rPr>
              <a:t> تُخزن القيم في بلوك واحد متصل في الذاكرة، كما في لغة </a:t>
            </a:r>
            <a:r>
              <a:rPr b="0" lang="en-US" sz="2500" spc="83" strike="noStrike">
                <a:solidFill>
                  <a:srgbClr val="ffffff"/>
                </a:solidFill>
                <a:latin typeface="Cairo"/>
                <a:ea typeface="Noto Sans CJK SC"/>
              </a:rPr>
              <a:t>C</a:t>
            </a:r>
            <a:r>
              <a:rPr b="0" lang="en-US" sz="2500" spc="83" strike="noStrike">
                <a:solidFill>
                  <a:srgbClr val="ffffff"/>
                </a:solidFill>
                <a:latin typeface="Cairo"/>
                <a:ea typeface="Noto Sans CJK SC"/>
              </a:rPr>
              <a:t> أو </a:t>
            </a:r>
            <a:r>
              <a:rPr b="0" lang="en-US" sz="2500" spc="83" strike="noStrike">
                <a:solidFill>
                  <a:srgbClr val="ffffff"/>
                </a:solidFill>
                <a:latin typeface="Cairo"/>
                <a:ea typeface="Noto Sans CJK SC"/>
              </a:rPr>
              <a:t>C</a:t>
            </a:r>
            <a:r>
              <a:rPr b="0" lang="en-US" sz="2500" spc="83" strike="noStrike">
                <a:solidFill>
                  <a:srgbClr val="ffffff"/>
                </a:solidFill>
                <a:latin typeface="Cairo"/>
                <a:ea typeface="Noto Sans CJK SC"/>
              </a:rPr>
              <a:t>++.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algn="r" defTabSz="914400" rtl="1">
              <a:lnSpc>
                <a:spcPts val="5031"/>
              </a:lnSpc>
              <a:spcBef>
                <a:spcPts val="57"/>
              </a:spcBef>
              <a:buClr>
                <a:srgbClr val="d9d9d9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hi-IN" sz="2500" spc="83" strike="noStrike">
                <a:solidFill>
                  <a:srgbClr val="ffffff"/>
                </a:solidFill>
                <a:latin typeface="Cairo"/>
                <a:cs typeface="Cairo"/>
              </a:rPr>
              <a:t>الميزة ان المعالج عندما يقرأ العنصر الأول، يجد العناصر التالية جاهزة خلفه مباشرة. هذا يسمح باستخدام تقنيات اخرى حيث ينفذ المعالج عملية حسابية واحدة على مجموعة أرقام في نفس اللحظة.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algn="r" defTabSz="914400" rtl="1">
              <a:lnSpc>
                <a:spcPts val="5031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hi-IN" sz="2500" spc="83" strike="noStrike">
                <a:solidFill>
                  <a:srgbClr val="ffffff"/>
                </a:solidFill>
                <a:latin typeface="Cairo"/>
                <a:cs typeface="Cairo"/>
              </a:rPr>
              <a:t>و النتيجة كفاءة عالية في السرعة وتوفير كبير في الذاكرة لأننا لا نخزن "عناوين" بل نخزن "بيانات" فقط.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algn="r" defTabSz="914400" rtl="1">
              <a:lnSpc>
                <a:spcPts val="5031"/>
              </a:lnSpc>
              <a:spcBef>
                <a:spcPts val="57"/>
              </a:spcBef>
              <a:tabLst>
                <a:tab algn="l" pos="0"/>
              </a:tabLst>
            </a:pP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29" name=""/>
          <p:cNvGrpSpPr/>
          <p:nvPr/>
        </p:nvGrpSpPr>
        <p:grpSpPr>
          <a:xfrm>
            <a:off x="3886200" y="1413360"/>
            <a:ext cx="10514520" cy="1328760"/>
            <a:chOff x="3886200" y="1413360"/>
            <a:chExt cx="10514520" cy="1328760"/>
          </a:xfrm>
        </p:grpSpPr>
        <p:sp>
          <p:nvSpPr>
            <p:cNvPr id="430" name="TextBox 12"/>
            <p:cNvSpPr/>
            <p:nvPr/>
          </p:nvSpPr>
          <p:spPr>
            <a:xfrm>
              <a:off x="3886200" y="1413360"/>
              <a:ext cx="10514520" cy="112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8889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b="0" lang="en-US" sz="6000" spc="205" strike="noStrike">
                  <a:solidFill>
                    <a:srgbClr val="d9d9d9"/>
                  </a:solidFill>
                  <a:latin typeface="HK Modular"/>
                  <a:ea typeface="HK Modular"/>
                </a:rPr>
                <a:t>Deep Dive into NumPy</a:t>
              </a:r>
              <a:endParaRPr b="0" lang="en-US" sz="60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1" name=""/>
            <p:cNvSpPr/>
            <p:nvPr/>
          </p:nvSpPr>
          <p:spPr>
            <a:xfrm>
              <a:off x="4094280" y="1413360"/>
              <a:ext cx="10194480" cy="1328760"/>
            </a:xfrm>
            <a:prstGeom prst="frame">
              <a:avLst>
                <a:gd name="adj1" fmla="val 9259"/>
              </a:avLst>
            </a:prstGeom>
            <a:noFill/>
            <a:ln w="18360">
              <a:solidFill>
                <a:srgbClr val="6a1b9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432" name="" descr=""/>
          <p:cNvPicPr/>
          <p:nvPr/>
        </p:nvPicPr>
        <p:blipFill>
          <a:blip r:embed="rId13"/>
          <a:srcRect l="21739" t="0" r="21732" b="0"/>
          <a:stretch/>
        </p:blipFill>
        <p:spPr>
          <a:xfrm>
            <a:off x="1900800" y="1310400"/>
            <a:ext cx="1370520" cy="1361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07" dur="indefinite" restart="never" nodeType="tmRoot">
          <p:childTnLst>
            <p:seq>
              <p:cTn id="608" dur="indefinite" nodeType="mainSeq">
                <p:childTnLst>
                  <p:par>
                    <p:cTn id="609" fill="hold">
                      <p:stCondLst>
                        <p:cond delay="indefinite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3" fill="hold">
                      <p:stCondLst>
                        <p:cond delay="indefinite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id="615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617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Freeform 9"/>
          <p:cNvSpPr/>
          <p:nvPr/>
        </p:nvSpPr>
        <p:spPr>
          <a:xfrm>
            <a:off x="458280" y="9059400"/>
            <a:ext cx="7313040" cy="769320"/>
          </a:xfrm>
          <a:custGeom>
            <a:avLst/>
            <a:gdLst>
              <a:gd name="textAreaLeft" fmla="*/ 0 w 7313040"/>
              <a:gd name="textAreaRight" fmla="*/ 731520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2"/>
                </a:lnTo>
                <a:lnTo>
                  <a:pt x="0" y="7714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Freeform 14"/>
          <p:cNvSpPr/>
          <p:nvPr/>
        </p:nvSpPr>
        <p:spPr>
          <a:xfrm flipH="1">
            <a:off x="10515600" y="228600"/>
            <a:ext cx="7313040" cy="769320"/>
          </a:xfrm>
          <a:custGeom>
            <a:avLst/>
            <a:gdLst>
              <a:gd name="textAreaLeft" fmla="*/ -1080 w 7313040"/>
              <a:gd name="textAreaRight" fmla="*/ 731412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2"/>
                </a:lnTo>
                <a:lnTo>
                  <a:pt x="7315200" y="771422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Freeform 95"/>
          <p:cNvSpPr/>
          <p:nvPr/>
        </p:nvSpPr>
        <p:spPr>
          <a:xfrm>
            <a:off x="16230600" y="868680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Freeform 96"/>
          <p:cNvSpPr/>
          <p:nvPr/>
        </p:nvSpPr>
        <p:spPr>
          <a:xfrm flipV="1">
            <a:off x="-2055960" y="-251568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360 h 4112640"/>
              <a:gd name="textAreaBottom" fmla="*/ 411516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Freeform 97"/>
          <p:cNvSpPr/>
          <p:nvPr/>
        </p:nvSpPr>
        <p:spPr>
          <a:xfrm rot="16200000">
            <a:off x="-1892160" y="523872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Freeform 98"/>
          <p:cNvSpPr/>
          <p:nvPr/>
        </p:nvSpPr>
        <p:spPr>
          <a:xfrm flipV="1" rot="16200000">
            <a:off x="14879880" y="432216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1080 h 769320"/>
              <a:gd name="textAreaBottom" fmla="*/ 77256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39" name=""/>
          <p:cNvGrpSpPr/>
          <p:nvPr/>
        </p:nvGrpSpPr>
        <p:grpSpPr>
          <a:xfrm>
            <a:off x="1828800" y="3288240"/>
            <a:ext cx="4343400" cy="913320"/>
            <a:chOff x="1828800" y="3288240"/>
            <a:chExt cx="4343400" cy="913320"/>
          </a:xfrm>
        </p:grpSpPr>
        <p:grpSp>
          <p:nvGrpSpPr>
            <p:cNvPr id="440" name=""/>
            <p:cNvGrpSpPr/>
            <p:nvPr/>
          </p:nvGrpSpPr>
          <p:grpSpPr>
            <a:xfrm>
              <a:off x="1828800" y="3288240"/>
              <a:ext cx="4343400" cy="913320"/>
              <a:chOff x="1828800" y="3288240"/>
              <a:chExt cx="4343400" cy="913320"/>
            </a:xfrm>
          </p:grpSpPr>
          <p:sp>
            <p:nvSpPr>
              <p:cNvPr id="441" name=""/>
              <p:cNvSpPr/>
              <p:nvPr/>
            </p:nvSpPr>
            <p:spPr>
              <a:xfrm>
                <a:off x="1828800" y="3288240"/>
                <a:ext cx="4343400" cy="913320"/>
              </a:xfrm>
              <a:prstGeom prst="roundRect">
                <a:avLst>
                  <a:gd name="adj" fmla="val 16667"/>
                </a:avLst>
              </a:prstGeom>
              <a:solidFill>
                <a:srgbClr val="311b92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42" name="TextBox 11"/>
              <p:cNvSpPr/>
              <p:nvPr/>
            </p:nvSpPr>
            <p:spPr>
              <a:xfrm>
                <a:off x="2130840" y="3540960"/>
                <a:ext cx="3812760" cy="453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spAutoFit/>
              </a:bodyPr>
              <a:p>
                <a:pPr defTabSz="685800">
                  <a:lnSpc>
                    <a:spcPct val="90000"/>
                  </a:lnSpc>
                </a:pPr>
                <a:r>
                  <a:rPr b="0" lang="en-US" sz="3300" spc="-1" strike="noStrike">
                    <a:solidFill>
                      <a:schemeClr val="dk1"/>
                    </a:solidFill>
                    <a:latin typeface="Calibri Light"/>
                    <a:ea typeface="Noto Sans CJK SC"/>
                  </a:rPr>
                  <a:t>NumPy Overview</a:t>
                </a:r>
                <a:endParaRPr b="0" lang="en-US" sz="33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443" name="TextBox 7"/>
          <p:cNvSpPr/>
          <p:nvPr/>
        </p:nvSpPr>
        <p:spPr>
          <a:xfrm>
            <a:off x="1828800" y="4647960"/>
            <a:ext cx="14400720" cy="31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OpenSymbol"/>
              <a:buAutoNum type="arabicParenR"/>
            </a:pPr>
            <a:r>
              <a:rPr b="0" lang="en-US" sz="4000" spc="-1" strike="noStrike">
                <a:solidFill>
                  <a:srgbClr val="fafafa"/>
                </a:solidFill>
                <a:latin typeface="Calibri"/>
                <a:ea typeface="Noto Sans CJK SC"/>
              </a:rPr>
              <a:t>Arrays</a:t>
            </a:r>
            <a:endParaRPr b="0" lang="en-US" sz="4000" spc="-1" strike="noStrike">
              <a:solidFill>
                <a:srgbClr val="fafafa"/>
              </a:solidFill>
              <a:latin typeface="Arial"/>
            </a:endParaRPr>
          </a:p>
          <a:p>
            <a:pPr marL="216000" indent="-21600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OpenSymbol"/>
              <a:buAutoNum type="arabicParenR"/>
            </a:pPr>
            <a:r>
              <a:rPr b="0" lang="en-US" sz="4000" spc="-1" strike="noStrike">
                <a:solidFill>
                  <a:srgbClr val="fafafa"/>
                </a:solidFill>
                <a:latin typeface="Calibri"/>
                <a:ea typeface="Noto Sans CJK SC"/>
              </a:rPr>
              <a:t>Shaping and transposition</a:t>
            </a:r>
            <a:endParaRPr b="0" lang="en-US" sz="4000" spc="-1" strike="noStrike">
              <a:solidFill>
                <a:srgbClr val="fafafa"/>
              </a:solidFill>
              <a:latin typeface="Arial"/>
            </a:endParaRPr>
          </a:p>
          <a:p>
            <a:pPr marL="216000" indent="-21600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OpenSymbol"/>
              <a:buAutoNum type="arabicParenR"/>
            </a:pPr>
            <a:r>
              <a:rPr b="0" lang="en-US" sz="4000" spc="-1" strike="noStrike">
                <a:solidFill>
                  <a:srgbClr val="fafafa"/>
                </a:solidFill>
                <a:latin typeface="Calibri"/>
                <a:ea typeface="Noto Sans CJK SC"/>
              </a:rPr>
              <a:t>Mathematical Operations</a:t>
            </a:r>
            <a:endParaRPr b="0" lang="en-US" sz="4000" spc="-1" strike="noStrike">
              <a:solidFill>
                <a:srgbClr val="fafafa"/>
              </a:solidFill>
              <a:latin typeface="Arial"/>
            </a:endParaRPr>
          </a:p>
          <a:p>
            <a:pPr marL="216000" indent="-21600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OpenSymbol"/>
              <a:buAutoNum type="arabicParenR"/>
            </a:pPr>
            <a:r>
              <a:rPr b="0" lang="en-US" sz="4000" spc="-1" strike="noStrike">
                <a:solidFill>
                  <a:srgbClr val="fafafa"/>
                </a:solidFill>
                <a:latin typeface="Calibri"/>
                <a:ea typeface="Noto Sans CJK SC"/>
              </a:rPr>
              <a:t>Indexing and slicing</a:t>
            </a:r>
            <a:endParaRPr b="0" lang="en-US" sz="4000" spc="-1" strike="noStrike">
              <a:solidFill>
                <a:srgbClr val="fafafa"/>
              </a:solidFill>
              <a:latin typeface="Arial"/>
            </a:endParaRPr>
          </a:p>
          <a:p>
            <a:pPr marL="216000" indent="-21600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OpenSymbol"/>
              <a:buAutoNum type="arabicParenR"/>
            </a:pPr>
            <a:r>
              <a:rPr b="0" lang="en-US" sz="4000" spc="-1" strike="noStrike">
                <a:solidFill>
                  <a:srgbClr val="fafafa"/>
                </a:solidFill>
                <a:latin typeface="Calibri"/>
                <a:ea typeface="Noto Sans CJK SC"/>
              </a:rPr>
              <a:t>Broadcasting</a:t>
            </a:r>
            <a:endParaRPr b="0" lang="en-US" sz="4000" spc="-1" strike="noStrike">
              <a:solidFill>
                <a:srgbClr val="fafafa"/>
              </a:solidFill>
              <a:latin typeface="Arial"/>
            </a:endParaRPr>
          </a:p>
        </p:txBody>
      </p:sp>
      <p:grpSp>
        <p:nvGrpSpPr>
          <p:cNvPr id="444" name=""/>
          <p:cNvGrpSpPr/>
          <p:nvPr/>
        </p:nvGrpSpPr>
        <p:grpSpPr>
          <a:xfrm>
            <a:off x="3886200" y="1413360"/>
            <a:ext cx="10514520" cy="1328760"/>
            <a:chOff x="3886200" y="1413360"/>
            <a:chExt cx="10514520" cy="1328760"/>
          </a:xfrm>
        </p:grpSpPr>
        <p:sp>
          <p:nvSpPr>
            <p:cNvPr id="445" name="TextBox 12"/>
            <p:cNvSpPr/>
            <p:nvPr/>
          </p:nvSpPr>
          <p:spPr>
            <a:xfrm>
              <a:off x="3886200" y="1413360"/>
              <a:ext cx="10514520" cy="112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8889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b="0" lang="en-US" sz="6000" spc="205" strike="noStrike">
                  <a:solidFill>
                    <a:srgbClr val="d9d9d9"/>
                  </a:solidFill>
                  <a:latin typeface="HK Modular"/>
                  <a:ea typeface="HK Modular"/>
                </a:rPr>
                <a:t>Deep Dive into NumPy</a:t>
              </a:r>
              <a:endParaRPr b="0" lang="en-US" sz="60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6" name=""/>
            <p:cNvSpPr/>
            <p:nvPr/>
          </p:nvSpPr>
          <p:spPr>
            <a:xfrm>
              <a:off x="4094280" y="1413360"/>
              <a:ext cx="10194480" cy="1328760"/>
            </a:xfrm>
            <a:prstGeom prst="frame">
              <a:avLst>
                <a:gd name="adj1" fmla="val 9259"/>
              </a:avLst>
            </a:prstGeom>
            <a:noFill/>
            <a:ln w="18360">
              <a:solidFill>
                <a:srgbClr val="6a1b9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447" name="" descr=""/>
          <p:cNvPicPr/>
          <p:nvPr/>
        </p:nvPicPr>
        <p:blipFill>
          <a:blip r:embed="rId13"/>
          <a:srcRect l="21739" t="0" r="21732" b="0"/>
          <a:stretch/>
        </p:blipFill>
        <p:spPr>
          <a:xfrm>
            <a:off x="1900800" y="1310400"/>
            <a:ext cx="1370520" cy="1361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18" dur="indefinite" restart="never" nodeType="tmRoot">
          <p:childTnLst>
            <p:seq>
              <p:cTn id="619" dur="indefinite" nodeType="mainSeq">
                <p:childTnLst>
                  <p:par>
                    <p:cTn id="620" fill="hold">
                      <p:stCondLst>
                        <p:cond delay="indefinite"/>
                      </p:stCondLst>
                      <p:childTnLst>
                        <p:par>
                          <p:cTn id="621" fill="hold">
                            <p:stCondLst>
                              <p:cond delay="0"/>
                            </p:stCondLst>
                            <p:childTnLst>
                              <p:par>
                                <p:cTn id="62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4" fill="hold">
                      <p:stCondLst>
                        <p:cond delay="indefinite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628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Freeform 99"/>
          <p:cNvSpPr/>
          <p:nvPr/>
        </p:nvSpPr>
        <p:spPr>
          <a:xfrm>
            <a:off x="458280" y="9059400"/>
            <a:ext cx="7313040" cy="769320"/>
          </a:xfrm>
          <a:custGeom>
            <a:avLst/>
            <a:gdLst>
              <a:gd name="textAreaLeft" fmla="*/ 0 w 7313040"/>
              <a:gd name="textAreaRight" fmla="*/ 731520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2"/>
                </a:lnTo>
                <a:lnTo>
                  <a:pt x="0" y="7714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Freeform 100"/>
          <p:cNvSpPr/>
          <p:nvPr/>
        </p:nvSpPr>
        <p:spPr>
          <a:xfrm flipH="1">
            <a:off x="10515600" y="228600"/>
            <a:ext cx="7313040" cy="769320"/>
          </a:xfrm>
          <a:custGeom>
            <a:avLst/>
            <a:gdLst>
              <a:gd name="textAreaLeft" fmla="*/ -1080 w 7313040"/>
              <a:gd name="textAreaRight" fmla="*/ 731412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2"/>
                </a:lnTo>
                <a:lnTo>
                  <a:pt x="7315200" y="771422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Freeform 101"/>
          <p:cNvSpPr/>
          <p:nvPr/>
        </p:nvSpPr>
        <p:spPr>
          <a:xfrm>
            <a:off x="16230600" y="868680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Freeform 102"/>
          <p:cNvSpPr/>
          <p:nvPr/>
        </p:nvSpPr>
        <p:spPr>
          <a:xfrm flipV="1">
            <a:off x="-2055960" y="-251568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360 h 4112640"/>
              <a:gd name="textAreaBottom" fmla="*/ 411516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Freeform 103"/>
          <p:cNvSpPr/>
          <p:nvPr/>
        </p:nvSpPr>
        <p:spPr>
          <a:xfrm rot="16200000">
            <a:off x="-1892160" y="523872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Freeform 104"/>
          <p:cNvSpPr/>
          <p:nvPr/>
        </p:nvSpPr>
        <p:spPr>
          <a:xfrm flipV="1" rot="16200000">
            <a:off x="14879880" y="432216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1080 h 769320"/>
              <a:gd name="textAreaBottom" fmla="*/ 77256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54" name=""/>
          <p:cNvGrpSpPr/>
          <p:nvPr/>
        </p:nvGrpSpPr>
        <p:grpSpPr>
          <a:xfrm>
            <a:off x="1828800" y="3288240"/>
            <a:ext cx="4343400" cy="913320"/>
            <a:chOff x="1828800" y="3288240"/>
            <a:chExt cx="4343400" cy="913320"/>
          </a:xfrm>
        </p:grpSpPr>
        <p:grpSp>
          <p:nvGrpSpPr>
            <p:cNvPr id="455" name=""/>
            <p:cNvGrpSpPr/>
            <p:nvPr/>
          </p:nvGrpSpPr>
          <p:grpSpPr>
            <a:xfrm>
              <a:off x="1828800" y="3288240"/>
              <a:ext cx="4343400" cy="913320"/>
              <a:chOff x="1828800" y="3288240"/>
              <a:chExt cx="4343400" cy="913320"/>
            </a:xfrm>
          </p:grpSpPr>
          <p:sp>
            <p:nvSpPr>
              <p:cNvPr id="456" name=""/>
              <p:cNvSpPr/>
              <p:nvPr/>
            </p:nvSpPr>
            <p:spPr>
              <a:xfrm>
                <a:off x="1828800" y="3288240"/>
                <a:ext cx="4343400" cy="913320"/>
              </a:xfrm>
              <a:prstGeom prst="roundRect">
                <a:avLst>
                  <a:gd name="adj" fmla="val 16667"/>
                </a:avLst>
              </a:prstGeom>
              <a:solidFill>
                <a:srgbClr val="311b92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57" name="TextBox 11"/>
              <p:cNvSpPr/>
              <p:nvPr/>
            </p:nvSpPr>
            <p:spPr>
              <a:xfrm>
                <a:off x="2130840" y="3540960"/>
                <a:ext cx="3812760" cy="453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spAutoFit/>
              </a:bodyPr>
              <a:p>
                <a:pPr defTabSz="685800">
                  <a:lnSpc>
                    <a:spcPct val="90000"/>
                  </a:lnSpc>
                </a:pPr>
                <a:r>
                  <a:rPr b="0" lang="en-US" sz="3300" spc="-1" strike="noStrike">
                    <a:solidFill>
                      <a:schemeClr val="dk1"/>
                    </a:solidFill>
                    <a:latin typeface="Calibri Light"/>
                    <a:ea typeface="Noto Sans CJK SC"/>
                  </a:rPr>
                  <a:t>NumPy Overview</a:t>
                </a:r>
                <a:endParaRPr b="0" lang="en-US" sz="33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grpSp>
        <p:nvGrpSpPr>
          <p:cNvPr id="458" name=""/>
          <p:cNvGrpSpPr/>
          <p:nvPr/>
        </p:nvGrpSpPr>
        <p:grpSpPr>
          <a:xfrm>
            <a:off x="1600200" y="4572000"/>
            <a:ext cx="2286000" cy="685800"/>
            <a:chOff x="1600200" y="4572000"/>
            <a:chExt cx="2286000" cy="685800"/>
          </a:xfrm>
        </p:grpSpPr>
        <p:sp>
          <p:nvSpPr>
            <p:cNvPr id="459" name=""/>
            <p:cNvSpPr/>
            <p:nvPr/>
          </p:nvSpPr>
          <p:spPr>
            <a:xfrm>
              <a:off x="1600200" y="4572000"/>
              <a:ext cx="2057400" cy="685800"/>
            </a:xfrm>
            <a:prstGeom prst="roundRect">
              <a:avLst>
                <a:gd name="adj" fmla="val 16667"/>
              </a:avLst>
            </a:prstGeom>
            <a:solidFill>
              <a:srgbClr val="ff9800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0" name="TextBox 8"/>
            <p:cNvSpPr/>
            <p:nvPr/>
          </p:nvSpPr>
          <p:spPr>
            <a:xfrm>
              <a:off x="1828800" y="4647960"/>
              <a:ext cx="2057400" cy="54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marL="216000" indent="-216000" defTabSz="685800">
                <a:lnSpc>
                  <a:spcPct val="90000"/>
                </a:lnSpc>
                <a:spcBef>
                  <a:spcPts val="751"/>
                </a:spcBef>
                <a:buClr>
                  <a:srgbClr val="ffffff"/>
                </a:buClr>
                <a:buFont typeface="OpenSymbol"/>
                <a:buAutoNum type="arabicParenR"/>
              </a:pPr>
              <a:r>
                <a:rPr b="0" lang="en-US" sz="4000" spc="-1" strike="noStrike">
                  <a:solidFill>
                    <a:srgbClr val="fafafa"/>
                  </a:solidFill>
                  <a:latin typeface="Calibri"/>
                  <a:ea typeface="Noto Sans CJK SC"/>
                </a:rPr>
                <a:t>Arrays</a:t>
              </a:r>
              <a:endParaRPr b="0" lang="en-US" sz="4000" spc="-1" strike="noStrike">
                <a:solidFill>
                  <a:srgbClr val="fafafa"/>
                </a:solidFill>
                <a:latin typeface="Arial"/>
              </a:endParaRPr>
            </a:p>
          </p:txBody>
        </p:sp>
      </p:grpSp>
      <p:grpSp>
        <p:nvGrpSpPr>
          <p:cNvPr id="461" name=""/>
          <p:cNvGrpSpPr/>
          <p:nvPr/>
        </p:nvGrpSpPr>
        <p:grpSpPr>
          <a:xfrm>
            <a:off x="4094280" y="1185840"/>
            <a:ext cx="10514520" cy="1328760"/>
            <a:chOff x="4094280" y="1185840"/>
            <a:chExt cx="10514520" cy="1328760"/>
          </a:xfrm>
        </p:grpSpPr>
        <p:sp>
          <p:nvSpPr>
            <p:cNvPr id="462" name="TextBox 12"/>
            <p:cNvSpPr/>
            <p:nvPr/>
          </p:nvSpPr>
          <p:spPr>
            <a:xfrm>
              <a:off x="4094280" y="1185840"/>
              <a:ext cx="10514520" cy="112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8889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b="0" lang="en-US" sz="6000" spc="205" strike="noStrike">
                  <a:solidFill>
                    <a:srgbClr val="d9d9d9"/>
                  </a:solidFill>
                  <a:latin typeface="HK Modular"/>
                  <a:ea typeface="HK Modular"/>
                </a:rPr>
                <a:t>Deep Dive into NumPy</a:t>
              </a:r>
              <a:endParaRPr b="0" lang="en-US" sz="60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3" name=""/>
            <p:cNvSpPr/>
            <p:nvPr/>
          </p:nvSpPr>
          <p:spPr>
            <a:xfrm>
              <a:off x="4302360" y="1185840"/>
              <a:ext cx="10194480" cy="1328760"/>
            </a:xfrm>
            <a:prstGeom prst="frame">
              <a:avLst>
                <a:gd name="adj1" fmla="val 9259"/>
              </a:avLst>
            </a:prstGeom>
            <a:noFill/>
            <a:ln w="18360">
              <a:solidFill>
                <a:srgbClr val="6a1b9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464" name="" descr=""/>
          <p:cNvPicPr/>
          <p:nvPr/>
        </p:nvPicPr>
        <p:blipFill>
          <a:blip r:embed="rId13"/>
          <a:srcRect l="21739" t="0" r="21732" b="0"/>
          <a:stretch/>
        </p:blipFill>
        <p:spPr>
          <a:xfrm>
            <a:off x="2287080" y="1143000"/>
            <a:ext cx="1370520" cy="1361520"/>
          </a:xfrm>
          <a:prstGeom prst="rect">
            <a:avLst/>
          </a:prstGeom>
          <a:ln w="0">
            <a:noFill/>
          </a:ln>
        </p:spPr>
      </p:pic>
      <p:sp>
        <p:nvSpPr>
          <p:cNvPr id="465" name=""/>
          <p:cNvSpPr txBox="1"/>
          <p:nvPr/>
        </p:nvSpPr>
        <p:spPr>
          <a:xfrm>
            <a:off x="1828800" y="5486400"/>
            <a:ext cx="6172200" cy="456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3500" spc="-1" strike="noStrike">
                <a:solidFill>
                  <a:srgbClr val="fafafa"/>
                </a:solidFill>
                <a:latin typeface="Calibri"/>
              </a:rPr>
              <a:t>Structured lists of numbers.</a:t>
            </a:r>
            <a:endParaRPr b="0" lang="en-US" sz="3500" spc="-1" strike="noStrike">
              <a:solidFill>
                <a:srgbClr val="fafafa"/>
              </a:solidFill>
              <a:latin typeface="Arial"/>
            </a:endParaRPr>
          </a:p>
          <a:p>
            <a:pPr marL="216000" indent="-21600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500" spc="-1" strike="noStrike">
                <a:solidFill>
                  <a:srgbClr val="fafafa"/>
                </a:solidFill>
                <a:latin typeface="Calibri"/>
              </a:rPr>
              <a:t>Vectors </a:t>
            </a:r>
            <a:endParaRPr b="0" lang="en-US" sz="3500" spc="-1" strike="noStrike">
              <a:solidFill>
                <a:srgbClr val="fafafa"/>
              </a:solidFill>
              <a:latin typeface="Arial"/>
            </a:endParaRPr>
          </a:p>
          <a:p>
            <a:pPr marL="216000" indent="-21600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500" spc="-1" strike="noStrike">
                <a:solidFill>
                  <a:srgbClr val="fafafa"/>
                </a:solidFill>
                <a:latin typeface="Calibri"/>
              </a:rPr>
              <a:t>Matrices</a:t>
            </a:r>
            <a:endParaRPr b="0" lang="en-US" sz="3500" spc="-1" strike="noStrike">
              <a:solidFill>
                <a:srgbClr val="fafafa"/>
              </a:solidFill>
              <a:latin typeface="Arial"/>
            </a:endParaRPr>
          </a:p>
          <a:p>
            <a:pPr marL="216000" indent="-21600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500" spc="-1" strike="noStrike">
                <a:solidFill>
                  <a:srgbClr val="fafafa"/>
                </a:solidFill>
                <a:latin typeface="Calibri"/>
              </a:rPr>
              <a:t>Images</a:t>
            </a:r>
            <a:endParaRPr b="0" lang="en-US" sz="3500" spc="-1" strike="noStrike">
              <a:solidFill>
                <a:srgbClr val="fafafa"/>
              </a:solidFill>
              <a:latin typeface="Arial"/>
            </a:endParaRPr>
          </a:p>
          <a:p>
            <a:pPr marL="216000" indent="-21600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500" spc="-1" strike="noStrike">
                <a:solidFill>
                  <a:srgbClr val="fafafa"/>
                </a:solidFill>
                <a:latin typeface="Calibri"/>
              </a:rPr>
              <a:t>Tensors</a:t>
            </a:r>
            <a:endParaRPr b="0" lang="en-US" sz="3500" spc="-1" strike="noStrike">
              <a:solidFill>
                <a:srgbClr val="fafafa"/>
              </a:solidFill>
              <a:latin typeface="Arial"/>
            </a:endParaRPr>
          </a:p>
          <a:p>
            <a:pPr marL="216000" indent="-21600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500" spc="-1" strike="noStrike">
                <a:solidFill>
                  <a:srgbClr val="fafafa"/>
                </a:solidFill>
                <a:latin typeface="Calibri"/>
              </a:rPr>
              <a:t>ConvNets</a:t>
            </a:r>
            <a:endParaRPr b="0" lang="en-US" sz="3500" spc="-1" strike="noStrike">
              <a:solidFill>
                <a:srgbClr val="fafafa"/>
              </a:solidFill>
              <a:latin typeface="Arial"/>
            </a:endParaRPr>
          </a:p>
          <a:p>
            <a:pPr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endParaRPr b="0" lang="en-US" sz="3500" spc="-1" strike="noStrike">
              <a:solidFill>
                <a:srgbClr val="fafafa"/>
              </a:solidFill>
              <a:latin typeface="Arial"/>
            </a:endParaRPr>
          </a:p>
        </p:txBody>
      </p:sp>
      <p:grpSp>
        <p:nvGrpSpPr>
          <p:cNvPr id="466" name=""/>
          <p:cNvGrpSpPr/>
          <p:nvPr/>
        </p:nvGrpSpPr>
        <p:grpSpPr>
          <a:xfrm>
            <a:off x="7772400" y="2971800"/>
            <a:ext cx="3657600" cy="3200400"/>
            <a:chOff x="7772400" y="2971800"/>
            <a:chExt cx="3657600" cy="3200400"/>
          </a:xfrm>
        </p:grpSpPr>
        <p:sp>
          <p:nvSpPr>
            <p:cNvPr id="467" name=""/>
            <p:cNvSpPr/>
            <p:nvPr/>
          </p:nvSpPr>
          <p:spPr>
            <a:xfrm>
              <a:off x="7772400" y="2971800"/>
              <a:ext cx="3657600" cy="3200400"/>
            </a:xfrm>
            <a:prstGeom prst="roundRect">
              <a:avLst>
                <a:gd name="adj" fmla="val 16667"/>
              </a:avLst>
            </a:prstGeom>
            <a:solidFill>
              <a:srgbClr val="fafafa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8" name="Content Placeholder 3"/>
            <p:cNvSpPr txBox="1"/>
            <p:nvPr/>
          </p:nvSpPr>
          <p:spPr>
            <a:xfrm>
              <a:off x="7772400" y="3200400"/>
              <a:ext cx="3429000" cy="2743200"/>
            </a:xfrm>
            <a:prstGeom prst="rect">
              <a:avLst/>
            </a:prstGeom>
            <a:blipFill rotWithShape="0">
              <a:blip r:embed="rId14"/>
              <a:stretch/>
            </a:blipFill>
            <a:ln w="0">
              <a:noFill/>
            </a:ln>
          </p:spPr>
          <p:txBody>
            <a:bodyPr anchor="t">
              <a:noAutofit/>
            </a:bodyPr>
            <a:p>
              <a:pPr marL="432000" indent="-324000" defTabSz="685800">
                <a:lnSpc>
                  <a:spcPct val="90000"/>
                </a:lnSpc>
                <a:spcBef>
                  <a:spcPts val="1417"/>
                </a:spcBef>
                <a:buClr>
                  <a:srgbClr val="ffffff"/>
                </a:buClr>
                <a:buSzPct val="45000"/>
                <a:buFont typeface="Wingdings" charset="2"/>
                <a:buChar char=""/>
              </a:pP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469" name="" descr=""/>
          <p:cNvPicPr/>
          <p:nvPr/>
        </p:nvPicPr>
        <p:blipFill>
          <a:blip r:embed="rId15"/>
          <a:stretch/>
        </p:blipFill>
        <p:spPr>
          <a:xfrm>
            <a:off x="11658600" y="2971800"/>
            <a:ext cx="5042160" cy="3200400"/>
          </a:xfrm>
          <a:prstGeom prst="rect">
            <a:avLst/>
          </a:prstGeom>
          <a:ln w="0">
            <a:noFill/>
          </a:ln>
        </p:spPr>
      </p:pic>
      <p:grpSp>
        <p:nvGrpSpPr>
          <p:cNvPr id="470" name=""/>
          <p:cNvGrpSpPr/>
          <p:nvPr/>
        </p:nvGrpSpPr>
        <p:grpSpPr>
          <a:xfrm>
            <a:off x="7772400" y="6399720"/>
            <a:ext cx="3657600" cy="3429000"/>
            <a:chOff x="7772400" y="6399720"/>
            <a:chExt cx="3657600" cy="3429000"/>
          </a:xfrm>
        </p:grpSpPr>
        <p:sp>
          <p:nvSpPr>
            <p:cNvPr id="471" name=""/>
            <p:cNvSpPr/>
            <p:nvPr/>
          </p:nvSpPr>
          <p:spPr>
            <a:xfrm>
              <a:off x="7772400" y="6399720"/>
              <a:ext cx="3657600" cy="3429000"/>
            </a:xfrm>
            <a:prstGeom prst="roundRect">
              <a:avLst>
                <a:gd name="adj" fmla="val 16667"/>
              </a:avLst>
            </a:prstGeom>
            <a:solidFill>
              <a:srgbClr val="fafafa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72" name="Picture 2" descr="Image result for tensor"/>
            <p:cNvPicPr/>
            <p:nvPr/>
          </p:nvPicPr>
          <p:blipFill>
            <a:blip r:embed="rId16"/>
            <a:stretch/>
          </p:blipFill>
          <p:spPr>
            <a:xfrm>
              <a:off x="7947360" y="6629400"/>
              <a:ext cx="3254040" cy="29718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473" name="Picture 6" descr="https://i.gyazo.com/10b67bfe29096e8ad7b31c72efc7c05c.png"/>
          <p:cNvPicPr/>
          <p:nvPr/>
        </p:nvPicPr>
        <p:blipFill>
          <a:blip r:embed="rId17"/>
          <a:stretch/>
        </p:blipFill>
        <p:spPr>
          <a:xfrm>
            <a:off x="12344400" y="6629400"/>
            <a:ext cx="3714480" cy="297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29" dur="indefinite" restart="never" nodeType="tmRoot">
          <p:childTnLst>
            <p:seq>
              <p:cTn id="630" dur="indefinite" nodeType="mainSeq">
                <p:childTnLst>
                  <p:par>
                    <p:cTn id="631" fill="hold">
                      <p:stCondLst>
                        <p:cond delay="indefinite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5" fill="hold">
                      <p:stCondLst>
                        <p:cond delay="indefinite"/>
                      </p:stCondLst>
                      <p:childTnLst>
                        <p:par>
                          <p:cTn id="636" fill="hold">
                            <p:stCondLst>
                              <p:cond delay="0"/>
                            </p:stCondLst>
                            <p:childTnLst>
                              <p:par>
                                <p:cTn id="6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9" fill="hold">
                      <p:stCondLst>
                        <p:cond delay="indefinite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3" fill="hold">
                      <p:stCondLst>
                        <p:cond delay="indefinite"/>
                      </p:stCondLst>
                      <p:childTnLst>
                        <p:par>
                          <p:cTn id="644" fill="hold">
                            <p:stCondLst>
                              <p:cond delay="0"/>
                            </p:stCondLst>
                            <p:childTnLst>
                              <p:par>
                                <p:cTn id="6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7" fill="hold">
                      <p:stCondLst>
                        <p:cond delay="indefinite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id="6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1" fill="hold">
                      <p:stCondLst>
                        <p:cond delay="indefinite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5" fill="hold">
                      <p:stCondLst>
                        <p:cond delay="indefinite"/>
                      </p:stCondLst>
                      <p:childTnLst>
                        <p:par>
                          <p:cTn id="656" fill="hold">
                            <p:stCondLst>
                              <p:cond delay="0"/>
                            </p:stCondLst>
                            <p:childTnLst>
                              <p:par>
                                <p:cTn id="6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9" fill="hold">
                      <p:stCondLst>
                        <p:cond delay="indefinite"/>
                      </p:stCondLst>
                      <p:childTnLst>
                        <p:par>
                          <p:cTn id="660" fill="hold">
                            <p:stCondLst>
                              <p:cond delay="0"/>
                            </p:stCondLst>
                            <p:childTnLst>
                              <p:par>
                                <p:cTn id="6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3" fill="hold">
                      <p:stCondLst>
                        <p:cond delay="indefinite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7" fill="hold">
                      <p:stCondLst>
                        <p:cond delay="indefinite"/>
                      </p:stCondLst>
                      <p:childTnLst>
                        <p:par>
                          <p:cTn id="668" fill="hold">
                            <p:stCondLst>
                              <p:cond delay="0"/>
                            </p:stCondLst>
                            <p:childTnLst>
                              <p:par>
                                <p:cTn id="6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1" fill="hold">
                      <p:stCondLst>
                        <p:cond delay="indefinite"/>
                      </p:stCondLst>
                      <p:childTnLst>
                        <p:par>
                          <p:cTn id="672" fill="hold">
                            <p:stCondLst>
                              <p:cond delay="0"/>
                            </p:stCondLst>
                            <p:childTnLst>
                              <p:par>
                                <p:cTn id="6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5" fill="hold">
                      <p:stCondLst>
                        <p:cond delay="indefinite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Freeform 105"/>
          <p:cNvSpPr/>
          <p:nvPr/>
        </p:nvSpPr>
        <p:spPr>
          <a:xfrm>
            <a:off x="458280" y="9059400"/>
            <a:ext cx="7313040" cy="769320"/>
          </a:xfrm>
          <a:custGeom>
            <a:avLst/>
            <a:gdLst>
              <a:gd name="textAreaLeft" fmla="*/ 0 w 7313040"/>
              <a:gd name="textAreaRight" fmla="*/ 731520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0" y="0"/>
                </a:moveTo>
                <a:lnTo>
                  <a:pt x="7315200" y="0"/>
                </a:lnTo>
                <a:lnTo>
                  <a:pt x="7315200" y="771422"/>
                </a:lnTo>
                <a:lnTo>
                  <a:pt x="0" y="7714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Freeform 106"/>
          <p:cNvSpPr/>
          <p:nvPr/>
        </p:nvSpPr>
        <p:spPr>
          <a:xfrm flipH="1">
            <a:off x="10515600" y="228600"/>
            <a:ext cx="7313040" cy="769320"/>
          </a:xfrm>
          <a:custGeom>
            <a:avLst/>
            <a:gdLst>
              <a:gd name="textAreaLeft" fmla="*/ -1080 w 7313040"/>
              <a:gd name="textAreaRight" fmla="*/ 7314120 w 731304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7315200" h="771421">
                <a:moveTo>
                  <a:pt x="7315200" y="0"/>
                </a:moveTo>
                <a:lnTo>
                  <a:pt x="0" y="0"/>
                </a:lnTo>
                <a:lnTo>
                  <a:pt x="0" y="771422"/>
                </a:lnTo>
                <a:lnTo>
                  <a:pt x="7315200" y="771422"/>
                </a:lnTo>
                <a:lnTo>
                  <a:pt x="73152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Freeform 107"/>
          <p:cNvSpPr/>
          <p:nvPr/>
        </p:nvSpPr>
        <p:spPr>
          <a:xfrm>
            <a:off x="16230600" y="868680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Freeform 108"/>
          <p:cNvSpPr/>
          <p:nvPr/>
        </p:nvSpPr>
        <p:spPr>
          <a:xfrm flipV="1">
            <a:off x="-2055960" y="-251568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360 h 4112640"/>
              <a:gd name="textAreaBottom" fmla="*/ 411516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Freeform 109"/>
          <p:cNvSpPr/>
          <p:nvPr/>
        </p:nvSpPr>
        <p:spPr>
          <a:xfrm rot="16200000">
            <a:off x="-1892160" y="523872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Freeform 110"/>
          <p:cNvSpPr/>
          <p:nvPr/>
        </p:nvSpPr>
        <p:spPr>
          <a:xfrm flipV="1" rot="16200000">
            <a:off x="14879880" y="432216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1080 h 769320"/>
              <a:gd name="textAreaBottom" fmla="*/ 77256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80" name=""/>
          <p:cNvGrpSpPr/>
          <p:nvPr/>
        </p:nvGrpSpPr>
        <p:grpSpPr>
          <a:xfrm>
            <a:off x="1828800" y="3288240"/>
            <a:ext cx="4343400" cy="913320"/>
            <a:chOff x="1828800" y="3288240"/>
            <a:chExt cx="4343400" cy="913320"/>
          </a:xfrm>
        </p:grpSpPr>
        <p:grpSp>
          <p:nvGrpSpPr>
            <p:cNvPr id="481" name=""/>
            <p:cNvGrpSpPr/>
            <p:nvPr/>
          </p:nvGrpSpPr>
          <p:grpSpPr>
            <a:xfrm>
              <a:off x="1828800" y="3288240"/>
              <a:ext cx="4343400" cy="913320"/>
              <a:chOff x="1828800" y="3288240"/>
              <a:chExt cx="4343400" cy="913320"/>
            </a:xfrm>
          </p:grpSpPr>
          <p:sp>
            <p:nvSpPr>
              <p:cNvPr id="482" name=""/>
              <p:cNvSpPr/>
              <p:nvPr/>
            </p:nvSpPr>
            <p:spPr>
              <a:xfrm>
                <a:off x="1828800" y="3288240"/>
                <a:ext cx="4343400" cy="913320"/>
              </a:xfrm>
              <a:prstGeom prst="roundRect">
                <a:avLst>
                  <a:gd name="adj" fmla="val 16667"/>
                </a:avLst>
              </a:prstGeom>
              <a:solidFill>
                <a:srgbClr val="311b92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83" name="TextBox 11"/>
              <p:cNvSpPr/>
              <p:nvPr/>
            </p:nvSpPr>
            <p:spPr>
              <a:xfrm>
                <a:off x="2130840" y="3540960"/>
                <a:ext cx="3812760" cy="453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spAutoFit/>
              </a:bodyPr>
              <a:p>
                <a:pPr defTabSz="685800">
                  <a:lnSpc>
                    <a:spcPct val="90000"/>
                  </a:lnSpc>
                </a:pPr>
                <a:r>
                  <a:rPr b="0" lang="en-US" sz="3300" spc="-1" strike="noStrike">
                    <a:solidFill>
                      <a:srgbClr val="fafafa"/>
                    </a:solidFill>
                    <a:latin typeface="Calibri Light"/>
                    <a:ea typeface="Noto Sans CJK SC"/>
                  </a:rPr>
                  <a:t>Basic </a:t>
                </a:r>
                <a:r>
                  <a:rPr b="0" lang="en-US" sz="3300" spc="-1" strike="noStrike">
                    <a:solidFill>
                      <a:srgbClr val="fafafa"/>
                    </a:solidFill>
                    <a:latin typeface="Calibri Light"/>
                    <a:ea typeface="Noto Sans CJK SC"/>
                  </a:rPr>
                  <a:t>Properties</a:t>
                </a:r>
                <a:endParaRPr b="0" lang="en-US" sz="3300" spc="-1" strike="noStrike">
                  <a:solidFill>
                    <a:srgbClr val="fafafa"/>
                  </a:solidFill>
                  <a:latin typeface="Arial"/>
                </a:endParaRPr>
              </a:p>
            </p:txBody>
          </p:sp>
        </p:grpSp>
      </p:grpSp>
      <p:sp>
        <p:nvSpPr>
          <p:cNvPr id="484" name="TextBox 10"/>
          <p:cNvSpPr/>
          <p:nvPr/>
        </p:nvSpPr>
        <p:spPr>
          <a:xfrm>
            <a:off x="1828800" y="4647960"/>
            <a:ext cx="5943600" cy="37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fafafa"/>
                </a:solidFill>
                <a:latin typeface="Calibri"/>
                <a:ea typeface="Noto Sans CJK SC"/>
              </a:rPr>
              <a:t>np.ones , np.zeros</a:t>
            </a:r>
            <a:endParaRPr b="0" lang="en-US" sz="4000" spc="-1" strike="noStrike">
              <a:solidFill>
                <a:srgbClr val="fafafa"/>
              </a:solidFill>
              <a:latin typeface="Arial"/>
            </a:endParaRPr>
          </a:p>
          <a:p>
            <a:pPr marL="216000" indent="-21600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fafafa"/>
                </a:solidFill>
                <a:latin typeface="Calibri"/>
                <a:ea typeface="Noto Sans CJK SC"/>
              </a:rPr>
              <a:t>np.arange</a:t>
            </a:r>
            <a:endParaRPr b="0" lang="en-US" sz="4000" spc="-1" strike="noStrike">
              <a:solidFill>
                <a:srgbClr val="fafafa"/>
              </a:solidFill>
              <a:latin typeface="Arial"/>
            </a:endParaRPr>
          </a:p>
          <a:p>
            <a:pPr marL="216000" indent="-21600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fafafa"/>
                </a:solidFill>
                <a:latin typeface="Calibri"/>
                <a:ea typeface="Noto Sans CJK SC"/>
              </a:rPr>
              <a:t>np.concatenate</a:t>
            </a:r>
            <a:endParaRPr b="0" lang="en-US" sz="4000" spc="-1" strike="noStrike">
              <a:solidFill>
                <a:srgbClr val="fafafa"/>
              </a:solidFill>
              <a:latin typeface="Arial"/>
            </a:endParaRPr>
          </a:p>
          <a:p>
            <a:pPr marL="216000" indent="-21600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fafafa"/>
                </a:solidFill>
                <a:latin typeface="Calibri"/>
                <a:ea typeface="Noto Sans CJK SC"/>
              </a:rPr>
              <a:t>np.astype</a:t>
            </a:r>
            <a:endParaRPr b="0" lang="en-US" sz="4000" spc="-1" strike="noStrike">
              <a:solidFill>
                <a:srgbClr val="fafafa"/>
              </a:solidFill>
              <a:latin typeface="Arial"/>
            </a:endParaRPr>
          </a:p>
          <a:p>
            <a:pPr marL="216000" indent="-21600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fafafa"/>
                </a:solidFill>
                <a:latin typeface="Calibri"/>
                <a:ea typeface="Noto Sans CJK SC"/>
              </a:rPr>
              <a:t>np.zeros_like, np.ones_like</a:t>
            </a:r>
            <a:endParaRPr b="0" lang="en-US" sz="4000" spc="-1" strike="noStrike">
              <a:solidFill>
                <a:srgbClr val="fafafa"/>
              </a:solidFill>
              <a:latin typeface="Arial"/>
            </a:endParaRPr>
          </a:p>
          <a:p>
            <a:pPr marL="216000" indent="-21600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fafafa"/>
                </a:solidFill>
                <a:latin typeface="Calibri"/>
                <a:ea typeface="Noto Sans CJK SC"/>
              </a:rPr>
              <a:t>np.random.random</a:t>
            </a:r>
            <a:endParaRPr b="0" lang="en-US" sz="4000" spc="-1" strike="noStrike">
              <a:solidFill>
                <a:srgbClr val="fafafa"/>
              </a:solidFill>
              <a:latin typeface="Arial"/>
            </a:endParaRPr>
          </a:p>
        </p:txBody>
      </p:sp>
      <p:grpSp>
        <p:nvGrpSpPr>
          <p:cNvPr id="485" name=""/>
          <p:cNvGrpSpPr/>
          <p:nvPr/>
        </p:nvGrpSpPr>
        <p:grpSpPr>
          <a:xfrm>
            <a:off x="3886200" y="1413360"/>
            <a:ext cx="10514520" cy="1328760"/>
            <a:chOff x="3886200" y="1413360"/>
            <a:chExt cx="10514520" cy="1328760"/>
          </a:xfrm>
        </p:grpSpPr>
        <p:sp>
          <p:nvSpPr>
            <p:cNvPr id="486" name="TextBox 12"/>
            <p:cNvSpPr/>
            <p:nvPr/>
          </p:nvSpPr>
          <p:spPr>
            <a:xfrm>
              <a:off x="3886200" y="1413360"/>
              <a:ext cx="10514520" cy="112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8889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b="0" lang="en-US" sz="6000" spc="205" strike="noStrike">
                  <a:solidFill>
                    <a:srgbClr val="d9d9d9"/>
                  </a:solidFill>
                  <a:latin typeface="HK Modular"/>
                  <a:ea typeface="HK Modular"/>
                </a:rPr>
                <a:t>Deep Dive into NumPy</a:t>
              </a:r>
              <a:endParaRPr b="0" lang="en-US" sz="60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7" name=""/>
            <p:cNvSpPr/>
            <p:nvPr/>
          </p:nvSpPr>
          <p:spPr>
            <a:xfrm>
              <a:off x="4094280" y="1413360"/>
              <a:ext cx="10194480" cy="1328760"/>
            </a:xfrm>
            <a:prstGeom prst="frame">
              <a:avLst>
                <a:gd name="adj1" fmla="val 9259"/>
              </a:avLst>
            </a:prstGeom>
            <a:noFill/>
            <a:ln w="18360">
              <a:solidFill>
                <a:srgbClr val="6a1b9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488" name="" descr=""/>
          <p:cNvPicPr/>
          <p:nvPr/>
        </p:nvPicPr>
        <p:blipFill>
          <a:blip r:embed="rId13"/>
          <a:srcRect l="21739" t="0" r="21732" b="0"/>
          <a:stretch/>
        </p:blipFill>
        <p:spPr>
          <a:xfrm>
            <a:off x="1900800" y="1310400"/>
            <a:ext cx="1370520" cy="1361520"/>
          </a:xfrm>
          <a:prstGeom prst="rect">
            <a:avLst/>
          </a:prstGeom>
          <a:ln w="0">
            <a:noFill/>
          </a:ln>
        </p:spPr>
      </p:pic>
      <p:sp>
        <p:nvSpPr>
          <p:cNvPr id="489" name=""/>
          <p:cNvSpPr txBox="1"/>
          <p:nvPr/>
        </p:nvSpPr>
        <p:spPr>
          <a:xfrm>
            <a:off x="7772400" y="4343400"/>
            <a:ext cx="9318600" cy="912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Arrays can </a:t>
            </a: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have any </a:t>
            </a: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number of </a:t>
            </a: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dimensions</a:t>
            </a: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, including </a:t>
            </a: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zero (a </a:t>
            </a: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scalar).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Arrays are </a:t>
            </a: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typed: </a:t>
            </a: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np.uint8, </a:t>
            </a: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np.int64, </a:t>
            </a: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np.float32, </a:t>
            </a: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np.float64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79" dur="indefinite" restart="never" nodeType="tmRoot">
          <p:childTnLst>
            <p:seq>
              <p:cTn id="680" dur="indefinite" nodeType="mainSeq">
                <p:childTnLst>
                  <p:par>
                    <p:cTn id="681" fill="hold">
                      <p:stCondLst>
                        <p:cond delay="indefinite"/>
                      </p:stCondLst>
                      <p:childTnLst>
                        <p:par>
                          <p:cTn id="682" fill="hold">
                            <p:stCondLst>
                              <p:cond delay="0"/>
                            </p:stCondLst>
                            <p:childTnLst>
                              <p:par>
                                <p:cTn id="6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5" fill="hold">
                      <p:stCondLst>
                        <p:cond delay="indefinite"/>
                      </p:stCondLst>
                      <p:childTnLst>
                        <p:par>
                          <p:cTn id="686" fill="hold">
                            <p:stCondLst>
                              <p:cond delay="0"/>
                            </p:stCondLst>
                            <p:childTnLst>
                              <p:par>
                                <p:cTn id="687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689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0" fill="hold">
                      <p:stCondLst>
                        <p:cond delay="indefinite"/>
                      </p:stCondLst>
                      <p:childTnLst>
                        <p:par>
                          <p:cTn id="691" fill="hold">
                            <p:stCondLst>
                              <p:cond delay="0"/>
                            </p:stCondLst>
                            <p:childTnLst>
                              <p:par>
                                <p:cTn id="69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4" fill="hold">
                      <p:stCondLst>
                        <p:cond delay="indefinite"/>
                      </p:stCondLst>
                      <p:childTnLst>
                        <p:par>
                          <p:cTn id="695" fill="hold">
                            <p:stCondLst>
                              <p:cond delay="0"/>
                            </p:stCondLst>
                            <p:childTnLst>
                              <p:par>
                                <p:cTn id="696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698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9" fill="hold">
                      <p:stCondLst>
                        <p:cond delay="indefinite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Freeform 113"/>
          <p:cNvSpPr/>
          <p:nvPr/>
        </p:nvSpPr>
        <p:spPr>
          <a:xfrm>
            <a:off x="16230600" y="868680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0 h 4112640"/>
              <a:gd name="textAreaBottom" fmla="*/ 411480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Freeform 114"/>
          <p:cNvSpPr/>
          <p:nvPr/>
        </p:nvSpPr>
        <p:spPr>
          <a:xfrm flipV="1">
            <a:off x="-2055960" y="-2515680"/>
            <a:ext cx="4112640" cy="4112640"/>
          </a:xfrm>
          <a:custGeom>
            <a:avLst/>
            <a:gdLst>
              <a:gd name="textAreaLeft" fmla="*/ 0 w 4112640"/>
              <a:gd name="textAreaRight" fmla="*/ 4114800 w 4112640"/>
              <a:gd name="textAreaTop" fmla="*/ 360 h 4112640"/>
              <a:gd name="textAreaBottom" fmla="*/ 4115160 h 4112640"/>
            </a:gdLst>
            <a:ah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Freeform 115"/>
          <p:cNvSpPr/>
          <p:nvPr/>
        </p:nvSpPr>
        <p:spPr>
          <a:xfrm rot="16200000">
            <a:off x="-1892160" y="523872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0 h 769320"/>
              <a:gd name="textAreaBottom" fmla="*/ 77148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0"/>
                </a:moveTo>
                <a:lnTo>
                  <a:pt x="5303520" y="0"/>
                </a:lnTo>
                <a:lnTo>
                  <a:pt x="5303520" y="771421"/>
                </a:lnTo>
                <a:lnTo>
                  <a:pt x="0" y="771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Freeform 116"/>
          <p:cNvSpPr/>
          <p:nvPr/>
        </p:nvSpPr>
        <p:spPr>
          <a:xfrm flipV="1" rot="16200000">
            <a:off x="14879880" y="4322160"/>
            <a:ext cx="5301360" cy="769320"/>
          </a:xfrm>
          <a:custGeom>
            <a:avLst/>
            <a:gdLst>
              <a:gd name="textAreaLeft" fmla="*/ 0 w 5301360"/>
              <a:gd name="textAreaRight" fmla="*/ 5303520 w 5301360"/>
              <a:gd name="textAreaTop" fmla="*/ 1080 h 769320"/>
              <a:gd name="textAreaBottom" fmla="*/ 772560 h 769320"/>
            </a:gdLst>
            <a:ahLst/>
            <a:rect l="textAreaLeft" t="textAreaTop" r="textAreaRight" b="textAreaBottom"/>
            <a:pathLst>
              <a:path w="5303520" h="771421">
                <a:moveTo>
                  <a:pt x="0" y="771421"/>
                </a:moveTo>
                <a:lnTo>
                  <a:pt x="5303520" y="771421"/>
                </a:lnTo>
                <a:lnTo>
                  <a:pt x="5303520" y="0"/>
                </a:lnTo>
                <a:lnTo>
                  <a:pt x="0" y="0"/>
                </a:lnTo>
                <a:lnTo>
                  <a:pt x="0" y="771421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94" name=""/>
          <p:cNvGrpSpPr/>
          <p:nvPr/>
        </p:nvGrpSpPr>
        <p:grpSpPr>
          <a:xfrm>
            <a:off x="4800600" y="1828800"/>
            <a:ext cx="10058400" cy="913320"/>
            <a:chOff x="4800600" y="1828800"/>
            <a:chExt cx="10058400" cy="913320"/>
          </a:xfrm>
        </p:grpSpPr>
        <p:grpSp>
          <p:nvGrpSpPr>
            <p:cNvPr id="495" name=""/>
            <p:cNvGrpSpPr/>
            <p:nvPr/>
          </p:nvGrpSpPr>
          <p:grpSpPr>
            <a:xfrm>
              <a:off x="4800600" y="1828800"/>
              <a:ext cx="10058400" cy="913320"/>
              <a:chOff x="4800600" y="1828800"/>
              <a:chExt cx="10058400" cy="913320"/>
            </a:xfrm>
          </p:grpSpPr>
          <p:sp>
            <p:nvSpPr>
              <p:cNvPr id="496" name=""/>
              <p:cNvSpPr/>
              <p:nvPr/>
            </p:nvSpPr>
            <p:spPr>
              <a:xfrm>
                <a:off x="4800600" y="1828800"/>
                <a:ext cx="10058400" cy="913320"/>
              </a:xfrm>
              <a:prstGeom prst="roundRect">
                <a:avLst>
                  <a:gd name="adj" fmla="val 16667"/>
                </a:avLst>
              </a:prstGeom>
              <a:solidFill>
                <a:srgbClr val="311b92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97" name="TextBox 11"/>
              <p:cNvSpPr/>
              <p:nvPr/>
            </p:nvSpPr>
            <p:spPr>
              <a:xfrm>
                <a:off x="5500080" y="2081880"/>
                <a:ext cx="8829360" cy="453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spAutoFit/>
              </a:bodyPr>
              <a:p>
                <a:pPr defTabSz="685800">
                  <a:lnSpc>
                    <a:spcPct val="90000"/>
                  </a:lnSpc>
                </a:pPr>
                <a:r>
                  <a:rPr b="0" lang="en-US" sz="3300" spc="-1" strike="noStrike">
                    <a:solidFill>
                      <a:srgbClr val="fafafa"/>
                    </a:solidFill>
                    <a:latin typeface="Calibri Light"/>
                    <a:ea typeface="Noto Sans CJK SC"/>
                  </a:rPr>
                  <a:t>The difference between arange &amp; range</a:t>
                </a:r>
                <a:endParaRPr b="0" lang="en-US" sz="3300" spc="-1" strike="noStrike">
                  <a:solidFill>
                    <a:srgbClr val="fafafa"/>
                  </a:solidFill>
                  <a:latin typeface="Arial"/>
                </a:endParaRPr>
              </a:p>
            </p:txBody>
          </p:sp>
        </p:grpSp>
      </p:grpSp>
      <p:grpSp>
        <p:nvGrpSpPr>
          <p:cNvPr id="498" name=""/>
          <p:cNvGrpSpPr/>
          <p:nvPr/>
        </p:nvGrpSpPr>
        <p:grpSpPr>
          <a:xfrm>
            <a:off x="4572000" y="228600"/>
            <a:ext cx="10514520" cy="1328760"/>
            <a:chOff x="4572000" y="228600"/>
            <a:chExt cx="10514520" cy="1328760"/>
          </a:xfrm>
        </p:grpSpPr>
        <p:sp>
          <p:nvSpPr>
            <p:cNvPr id="499" name="TextBox 12"/>
            <p:cNvSpPr/>
            <p:nvPr/>
          </p:nvSpPr>
          <p:spPr>
            <a:xfrm>
              <a:off x="4572000" y="228600"/>
              <a:ext cx="10514520" cy="112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8889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b="0" lang="en-US" sz="6000" spc="205" strike="noStrike">
                  <a:solidFill>
                    <a:srgbClr val="d9d9d9"/>
                  </a:solidFill>
                  <a:latin typeface="HK Modular"/>
                  <a:ea typeface="HK Modular"/>
                </a:rPr>
                <a:t>Deep Dive into NumPy</a:t>
              </a:r>
              <a:endParaRPr b="0" lang="en-US" sz="60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0" name=""/>
            <p:cNvSpPr/>
            <p:nvPr/>
          </p:nvSpPr>
          <p:spPr>
            <a:xfrm>
              <a:off x="4780080" y="228600"/>
              <a:ext cx="10194480" cy="1328760"/>
            </a:xfrm>
            <a:prstGeom prst="frame">
              <a:avLst>
                <a:gd name="adj1" fmla="val 9259"/>
              </a:avLst>
            </a:prstGeom>
            <a:noFill/>
            <a:ln w="18360">
              <a:solidFill>
                <a:srgbClr val="6a1b9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501" name="" descr=""/>
          <p:cNvPicPr/>
          <p:nvPr/>
        </p:nvPicPr>
        <p:blipFill>
          <a:blip r:embed="rId9"/>
          <a:srcRect l="21739" t="0" r="21732" b="0"/>
          <a:stretch/>
        </p:blipFill>
        <p:spPr>
          <a:xfrm>
            <a:off x="2287080" y="228600"/>
            <a:ext cx="1370520" cy="1361520"/>
          </a:xfrm>
          <a:prstGeom prst="rect">
            <a:avLst/>
          </a:prstGeom>
          <a:ln w="0">
            <a:noFill/>
          </a:ln>
        </p:spPr>
      </p:pic>
      <p:pic>
        <p:nvPicPr>
          <p:cNvPr id="502" name="" descr=""/>
          <p:cNvPicPr/>
          <p:nvPr/>
        </p:nvPicPr>
        <p:blipFill>
          <a:blip r:embed="rId10"/>
          <a:stretch/>
        </p:blipFill>
        <p:spPr>
          <a:xfrm>
            <a:off x="4004280" y="3073320"/>
            <a:ext cx="11540520" cy="629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03" dur="indefinite" restart="never" nodeType="tmRoot">
          <p:childTnLst>
            <p:seq>
              <p:cTn id="704" dur="indefinite" nodeType="mainSeq">
                <p:childTnLst>
                  <p:par>
                    <p:cTn id="705" fill="hold">
                      <p:stCondLst>
                        <p:cond delay="indefinite"/>
                      </p:stCondLst>
                      <p:childTnLst>
                        <p:par>
                          <p:cTn id="706" fill="hold">
                            <p:stCondLst>
                              <p:cond delay="0"/>
                            </p:stCondLst>
                            <p:childTnLst>
                              <p:par>
                                <p:cTn id="7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9" fill="hold">
                      <p:stCondLst>
                        <p:cond delay="indefinite"/>
                      </p:stCondLst>
                      <p:childTnLst>
                        <p:par>
                          <p:cTn id="710" fill="hold">
                            <p:stCondLst>
                              <p:cond delay="0"/>
                            </p:stCondLst>
                            <p:childTnLst>
                              <p:par>
                                <p:cTn id="7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DAHCbVAxJmw</dc:identifier>
  <dc:language>en-US</dc:language>
  <cp:lastModifiedBy/>
  <dcterms:modified xsi:type="dcterms:W3CDTF">2026-03-04T19:34:50Z</dcterms:modified>
  <cp:revision>30</cp:revision>
  <dc:subject/>
  <dc:title>Black Futuristic Tech Project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